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62179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/>
            <a:r>
              <a:rPr b="1" sz="1300">
                <a:solidFill>
                  <a:srgbClr val="134074"/>
                </a:solidFill>
              </a:rPr>
              <a:t>• Problem Statement ID: </a:t>
            </a:r>
            <a:r>
              <a:rPr sz="1300">
                <a:solidFill>
                  <a:srgbClr val="1E293B"/>
                </a:solidFill>
              </a:rPr>
              <a:t>SIH26160
</a:t>
            </a:r>
          </a:p>
          <a:p>
            <a:r>
              <a:rPr b="1" sz="1300">
                <a:solidFill>
                  <a:srgbClr val="134074"/>
                </a:solidFill>
              </a:rPr>
              <a:t>• Problem Statement Title: </a:t>
            </a:r>
            <a:r>
              <a:rPr sz="1300">
                <a:solidFill>
                  <a:srgbClr val="1E293B"/>
                </a:solidFill>
              </a:rPr>
              <a:t>AI-Powered IPsec VPN Protocol Analyzer and Security Assessment Framework
</a:t>
            </a:r>
          </a:p>
          <a:p>
            <a:r>
              <a:rPr b="1" sz="1300">
                <a:solidFill>
                  <a:srgbClr val="134074"/>
                </a:solidFill>
              </a:rPr>
              <a:t>• Sponsoring Ministry / Agency: </a:t>
            </a:r>
            <a:r>
              <a:rPr sz="1300">
                <a:solidFill>
                  <a:srgbClr val="1E293B"/>
                </a:solidFill>
              </a:rPr>
              <a:t>National Technical Research Organisation (NTRO) / MIC
</a:t>
            </a:r>
          </a:p>
          <a:p>
            <a:r>
              <a:rPr b="1" sz="1300">
                <a:solidFill>
                  <a:srgbClr val="134074"/>
                </a:solidFill>
              </a:rPr>
              <a:t>• Theme / Bucket: </a:t>
            </a:r>
            <a:r>
              <a:rPr sz="1300">
                <a:solidFill>
                  <a:srgbClr val="1E293B"/>
                </a:solidFill>
              </a:rPr>
              <a:t>Blockchain &amp; Cybersecurity
</a:t>
            </a:r>
          </a:p>
          <a:p>
            <a:r>
              <a:rPr b="1" sz="1300">
                <a:solidFill>
                  <a:srgbClr val="134074"/>
                </a:solidFill>
              </a:rPr>
              <a:t>• PS Category: </a:t>
            </a:r>
            <a:r>
              <a:rPr sz="1300">
                <a:solidFill>
                  <a:srgbClr val="1E293B"/>
                </a:solidFill>
              </a:rPr>
              <a:t>Software
</a:t>
            </a:r>
          </a:p>
          <a:p>
            <a:r>
              <a:rPr b="1" sz="1300">
                <a:solidFill>
                  <a:srgbClr val="134074"/>
                </a:solidFill>
              </a:rPr>
              <a:t>• Team ID: </a:t>
            </a:r>
            <a:r>
              <a:rPr sz="1300">
                <a:solidFill>
                  <a:srgbClr val="1E293B"/>
                </a:solidFill>
              </a:rPr>
              <a:t>132859
</a:t>
            </a:r>
          </a:p>
          <a:p>
            <a:r>
              <a:rPr b="1" sz="1300">
                <a:solidFill>
                  <a:srgbClr val="134074"/>
                </a:solidFill>
              </a:rPr>
              <a:t>• Team Name: </a:t>
            </a:r>
            <a:r>
              <a:rPr sz="1300">
                <a:solidFill>
                  <a:srgbClr val="1E293B"/>
                </a:solidFill>
              </a:rPr>
              <a:t>Praxis
</a:t>
            </a:r>
          </a:p>
          <a:p>
            <a:r>
              <a:rPr b="1" sz="1300">
                <a:solidFill>
                  <a:srgbClr val="134074"/>
                </a:solidFill>
              </a:rPr>
              <a:t>• Institute: </a:t>
            </a:r>
            <a:r>
              <a:rPr sz="1300">
                <a:solidFill>
                  <a:srgbClr val="1E293B"/>
                </a:solidFill>
              </a:rPr>
              <a:t>Indian Institute of Technology Jodhpur (IIT Jodhpur)
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920240"/>
            <a:ext cx="4327855" cy="4297680"/>
          </a:xfrm>
          <a:prstGeom prst="round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365760"/>
          <a:lstStyle/>
          <a:p>
            <a:pPr algn="ctr">
              <a:defRPr sz="1400" b="1">
                <a:solidFill>
                  <a:srgbClr val="00A8CC"/>
                </a:solidFill>
              </a:defRPr>
            </a:pPr>
            <a:r>
              <a:t>PROPOSED SOLUTION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TRINETRA-SENTINEL</a:t>
            </a:r>
            <a:b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Autonomous Neuro-Symbolic Protocol Verifier &amp; Passive Epistemic Cryptographic Fingerprinting Engine for Sovereign IPsec Infrastructure.</a:t>
            </a:r>
            <a:br/>
            <a:br/>
            <a:r>
              <a:t>Key Differentiators:</a:t>
            </a:r>
            <a:br/>
            <a:r>
              <a:t>1. Epistemic Side-Channel Analysis on Opaque ESP (No Keys Needed)</a:t>
            </a:r>
            <a:br/>
            <a:r>
              <a:t>2. Deterministic Z3 Formal SMT Verification (NIST SP 800-77 &amp; CNSA 2.0)</a:t>
            </a:r>
            <a:br/>
            <a:r>
              <a:t>3. Cryptographic Negotiation Regret (CNR) Metric</a:t>
            </a:r>
            <a:br/>
            <a:r>
              <a:t>4. Harvest Now, Decrypt Later (HNDL) Quantum Risk Horizon</a:t>
            </a:r>
            <a:br/>
            <a:r>
              <a:t>5. Automated Multi-Vendor Remediation Compiler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  IDEA TITLE: TRINETRA-SENTINEL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0" y="502920"/>
            <a:ext cx="3108960" cy="548640"/>
          </a:xfrm>
          <a:prstGeom prst="roundRect">
            <a:avLst/>
          </a:prstGeom>
          <a:solidFill>
            <a:srgbClr val="00A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SIH26160 |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SIH 2026 Idea Submission | Team Praxis (ID: 132859) | Indian Institute of Technology Jodhpur | PS: SIH26160 (NTRO)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621792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134074"/>
                </a:solidFill>
              </a:defRPr>
            </a:pPr>
            <a:r>
              <a:t>■ Detailed Explanation of Proposed Solution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• Dual-Plane Passive Ingress: Evaluates IKEv1/v2 handshakes AND encrypted ESP streams without decryption keys.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• Offer-Set Lattice Reconstruction: Evaluates full combinatorial capability of both peers to detect downgrade.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• Passive Epistemic Side-Channel: Uses Shannon entropy and modular padding variance to classify cipher block size and Tunnel vs Transport mode.</a:t>
            </a:r>
          </a:p>
          <a:p/>
          <a:p>
            <a:pPr>
              <a:defRPr b="1" sz="1300">
                <a:solidFill>
                  <a:srgbClr val="134074"/>
                </a:solidFill>
              </a:defRPr>
            </a:pPr>
            <a:r>
              <a:t>■ How It Addresses the Problem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• Eliminates Blindness on ESP: Identifies cipher family (3DES vs AES-CBC vs GCM) on opaque Protocol 50 streams.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• Replaces Black-Box ML with SMT Logic: Proves compliance against NIST SP 800-77, BSI TR-02102, and CNSA 2.0 with zero hallucination.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• Calculates Quantum Exposure: Predicts confidentiality expiration half-life under Shor's &amp; Grover's algorithms.</a:t>
            </a:r>
          </a:p>
          <a:p/>
          <a:p>
            <a:pPr>
              <a:defRPr b="1" sz="1300">
                <a:solidFill>
                  <a:srgbClr val="134074"/>
                </a:solidFill>
              </a:defRPr>
            </a:pPr>
            <a:r>
              <a:t>■ Innovation &amp; Uniqueness (Patentable Moat)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• Novel CNR Metric: Proves mathematically when peers choose a weak cipher despite both supporting stronger suites.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• Zero-Key ESP Profiling: Decodes operational parameters without violating zero-trust privacy mandates.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• Multi-Vendor Remediation: One-click AST synthesis for Cisco IOS-XE, Fortinet, StrongSwan, and Ansible.</a:t>
            </a:r>
          </a:p>
          <a:p/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876495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00A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0B2545"/>
                </a:solidFill>
              </a:defRPr>
            </a:pPr>
            <a:r>
              <a:t>HOW TRINETRA-SENTINEL THINKS (MIND MAP)</a:t>
            </a:r>
          </a:p>
        </p:txBody>
      </p:sp>
      <p:sp>
        <p:nvSpPr>
          <p:cNvPr id="7" name="Hexagon 6"/>
          <p:cNvSpPr/>
          <p:nvPr/>
        </p:nvSpPr>
        <p:spPr>
          <a:xfrm>
            <a:off x="8412480" y="3200400"/>
            <a:ext cx="1828800" cy="1188720"/>
          </a:xfrm>
          <a:prstGeom prst="hexagon">
            <a:avLst/>
          </a:prstGeom>
          <a:solidFill>
            <a:srgbClr val="0B2545"/>
          </a:solidFill>
          <a:ln w="25400">
            <a:solidFill>
              <a:srgbClr val="00A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TRINETRA</a:t>
            </a:r>
            <a:br/>
            <a:r>
              <a:t>CORE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2011680"/>
            <a:ext cx="1920240" cy="822960"/>
          </a:xfrm>
          <a:prstGeom prst="round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FFFFFF"/>
                </a:solidFill>
              </a:defRPr>
            </a:pPr>
            <a:r>
              <a:t>IKE CONTROL PLANE</a:t>
            </a:r>
            <a:br/>
            <a:r>
              <a:t>• Offer-Set Lattice</a:t>
            </a:r>
            <a:br/>
            <a:r>
              <a:t>• Rekey Drift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2011680"/>
            <a:ext cx="1920240" cy="822960"/>
          </a:xfrm>
          <a:prstGeom prst="roundRect">
            <a:avLst/>
          </a:prstGeom>
          <a:solidFill>
            <a:srgbClr val="18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FFFFFF"/>
                </a:solidFill>
              </a:defRPr>
            </a:pPr>
            <a:r>
              <a:t>ESP DATA PLANE (OPAQUE)</a:t>
            </a:r>
            <a:br/>
            <a:r>
              <a:t>• Shannon Entropy H(X)</a:t>
            </a:r>
            <a:br/>
            <a:r>
              <a:t>• Tunnel / Transport Mode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4663440"/>
            <a:ext cx="1920240" cy="822960"/>
          </a:xfrm>
          <a:prstGeom prst="roundRect">
            <a:avLst/>
          </a:prstGeom>
          <a:solidFill>
            <a:srgbClr val="EE6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FFFFFF"/>
                </a:solidFill>
              </a:defRPr>
            </a:pPr>
            <a:r>
              <a:t>NEURO-SYMBOLIC SMT</a:t>
            </a:r>
            <a:br/>
            <a:r>
              <a:t>• Z3 Invariant Proofs</a:t>
            </a:r>
            <a:br/>
            <a:r>
              <a:t>• NIST / BSI / CNSA 2.0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4663440"/>
            <a:ext cx="1920240" cy="82296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FFFFFF"/>
                </a:solidFill>
              </a:defRPr>
            </a:pPr>
            <a:r>
              <a:t>ACTION &amp; COMPLIANCE</a:t>
            </a:r>
            <a:br/>
            <a:r>
              <a:t>• Signed Posture Cert (CPC)</a:t>
            </a:r>
            <a:br/>
            <a:r>
              <a:t>• Cisco/Fortinet/Ansible AST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5623560"/>
            <a:ext cx="4480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293B"/>
                </a:solidFill>
              </a:defRPr>
            </a:pPr>
            <a:r>
              <a:t>4 PILLARS: CNR (Regret) · PECF (ESP Mode/Cipher) · SMT (Zero Hallucination) · QRE (Quantum)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  TECHNICAL APPROACH &amp; IMPLEMENTATION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0" y="502920"/>
            <a:ext cx="3108960" cy="548640"/>
          </a:xfrm>
          <a:prstGeom prst="roundRect">
            <a:avLst/>
          </a:prstGeom>
          <a:solidFill>
            <a:srgbClr val="00A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SIH26160 |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SIH 2026 Idea Submission | Team Praxis (ID: 132859) | Indian Institute of Technology Jodhpur | PS: SIH26160 (NTRO)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783080" cy="868680"/>
          </a:xfrm>
          <a:prstGeom prst="round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WIRE INGEST</a:t>
            </a:r>
          </a:p>
          <a:p>
            <a:pPr algn="ctr">
              <a:defRPr sz="850">
                <a:solidFill>
                  <a:srgbClr val="F1F5F9"/>
                </a:solidFill>
              </a:defRPr>
            </a:pPr>
            <a:r>
              <a:t>C / eBPF XDP</a:t>
            </a:r>
            <a:br/>
            <a:r>
              <a:t>Zero-copy ring buffer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59152" y="1325880"/>
            <a:ext cx="1783080" cy="868680"/>
          </a:xfrm>
          <a:prstGeom prst="roundRect">
            <a:avLst/>
          </a:prstGeom>
          <a:solidFill>
            <a:srgbClr val="134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DISSECTION</a:t>
            </a:r>
          </a:p>
          <a:p>
            <a:pPr algn="ctr">
              <a:defRPr sz="850">
                <a:solidFill>
                  <a:srgbClr val="F1F5F9"/>
                </a:solidFill>
              </a:defRPr>
            </a:pPr>
            <a:r>
              <a:t>Rust / Pure Python</a:t>
            </a:r>
            <a:br/>
            <a:r>
              <a:t>RFC 7296 &amp; RFC 2409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61104" y="1325880"/>
            <a:ext cx="1783080" cy="868680"/>
          </a:xfrm>
          <a:prstGeom prst="roundRect">
            <a:avLst/>
          </a:prstGeom>
          <a:solidFill>
            <a:srgbClr val="188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ESP INFERENCE</a:t>
            </a:r>
          </a:p>
          <a:p>
            <a:pPr algn="ctr">
              <a:defRPr sz="850">
                <a:solidFill>
                  <a:srgbClr val="F1F5F9"/>
                </a:solidFill>
              </a:defRPr>
            </a:pPr>
            <a:r>
              <a:t>Shannon Entropy</a:t>
            </a:r>
            <a:br/>
            <a:r>
              <a:t>Modulo padding residual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1325880"/>
            <a:ext cx="1783080" cy="868680"/>
          </a:xfrm>
          <a:prstGeom prst="roundRect">
            <a:avLst/>
          </a:prstGeom>
          <a:solidFill>
            <a:srgbClr val="EE6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FORMAL SMT</a:t>
            </a:r>
          </a:p>
          <a:p>
            <a:pPr algn="ctr">
              <a:defRPr sz="850">
                <a:solidFill>
                  <a:srgbClr val="F1F5F9"/>
                </a:solidFill>
              </a:defRPr>
            </a:pPr>
            <a:r>
              <a:t>Z3 SMT Solver</a:t>
            </a:r>
            <a:br/>
            <a:r>
              <a:t>First-Order Logic rules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5008" y="1325880"/>
            <a:ext cx="1783080" cy="86868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QUANTUM THREAT</a:t>
            </a:r>
          </a:p>
          <a:p>
            <a:pPr algn="ctr">
              <a:defRPr sz="850">
                <a:solidFill>
                  <a:srgbClr val="F1F5F9"/>
                </a:solidFill>
              </a:defRPr>
            </a:pPr>
            <a:r>
              <a:t>Shor / Grover Model</a:t>
            </a:r>
            <a:br/>
            <a:r>
              <a:t>HNDL Half-life scoring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66960" y="1325880"/>
            <a:ext cx="1783080" cy="868680"/>
          </a:xfrm>
          <a:prstGeom prst="roundRect">
            <a:avLst/>
          </a:prstGeom>
          <a:solidFill>
            <a:srgbClr val="00A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REMEDIATION</a:t>
            </a:r>
          </a:p>
          <a:p>
            <a:pPr algn="ctr">
              <a:defRPr sz="850">
                <a:solidFill>
                  <a:srgbClr val="F1F5F9"/>
                </a:solidFill>
              </a:defRPr>
            </a:pPr>
            <a:r>
              <a:t>AST Multi-Vendor</a:t>
            </a:r>
            <a:br/>
            <a:r>
              <a:t>Cisco / Fortinet / Ansible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77440"/>
            <a:ext cx="26974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34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b="1" sz="1200">
                <a:solidFill>
                  <a:srgbClr val="0B2545"/>
                </a:solidFill>
              </a:defRPr>
            </a:pPr>
            <a:r>
              <a:t>STAGE 1: INGEST</a:t>
            </a:r>
          </a:p>
          <a:p>
            <a:br/>
            <a:pPr>
              <a:defRPr sz="1000">
                <a:solidFill>
                  <a:srgbClr val="1E293B"/>
                </a:solidFill>
              </a:defRPr>
            </a:pPr>
            <a:r>
              <a:t>Passive TAP / PCAP / eBPF</a:t>
            </a:r>
            <a:br/>
            <a:r>
              <a:t>• UDP 500 / 4500 (IKEv1/v2)</a:t>
            </a:r>
            <a:br/>
            <a:r>
              <a:t>• Protocol 50 (ESP Stream)</a:t>
            </a:r>
            <a:br/>
            <a:r>
              <a:t>• Zero payload decryption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0128" y="2377440"/>
            <a:ext cx="26974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34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b="1" sz="1200">
                <a:solidFill>
                  <a:srgbClr val="0B2545"/>
                </a:solidFill>
              </a:defRPr>
            </a:pPr>
            <a:r>
              <a:t>STAGE 2: LATTICE &amp; SIDE-CHANNEL</a:t>
            </a:r>
          </a:p>
          <a:p>
            <a:br/>
            <a:pPr>
              <a:defRPr sz="1000">
                <a:solidFill>
                  <a:srgbClr val="1E293B"/>
                </a:solidFill>
              </a:defRPr>
            </a:pPr>
            <a:r>
              <a:t>Dual-Plane Analysis</a:t>
            </a:r>
            <a:br/>
            <a:r>
              <a:t>• IKE Offer Lattice Matrix</a:t>
            </a:r>
            <a:br/>
            <a:r>
              <a:t>• ESP Shannon Entropy H(X)</a:t>
            </a:r>
            <a:br/>
            <a:r>
              <a:t>• Tunnel vs Transport GNN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2377440"/>
            <a:ext cx="26974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34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b="1" sz="1200">
                <a:solidFill>
                  <a:srgbClr val="0B2545"/>
                </a:solidFill>
              </a:defRPr>
            </a:pPr>
            <a:r>
              <a:t>STAGE 3: SMT PROOFS &amp; PQC</a:t>
            </a:r>
          </a:p>
          <a:p>
            <a:br/>
            <a:pPr>
              <a:defRPr sz="1000">
                <a:solidFill>
                  <a:srgbClr val="1E293B"/>
                </a:solidFill>
              </a:defRPr>
            </a:pPr>
            <a:r>
              <a:t>Mathematical Verification</a:t>
            </a:r>
            <a:br/>
            <a:r>
              <a:t>• Z3 Invariant Compliance</a:t>
            </a:r>
            <a:br/>
            <a:r>
              <a:t>• CNR Negotiation Regret</a:t>
            </a:r>
            <a:br/>
            <a:r>
              <a:t>• HNDL Quantum Secrecy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15984" y="2377440"/>
            <a:ext cx="26974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34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b="1" sz="1200">
                <a:solidFill>
                  <a:srgbClr val="0B2545"/>
                </a:solidFill>
              </a:defRPr>
            </a:pPr>
            <a:r>
              <a:t>STAGE 4: AUTONOMOUS ACTION</a:t>
            </a:r>
          </a:p>
          <a:p>
            <a:br/>
            <a:pPr>
              <a:defRPr sz="1000">
                <a:solidFill>
                  <a:srgbClr val="1E293B"/>
                </a:solidFill>
              </a:defRPr>
            </a:pPr>
            <a:r>
              <a:t>Zero-Touch Remediation</a:t>
            </a:r>
            <a:br/>
            <a:r>
              <a:t>• Signed Posture Cert (CPC)</a:t>
            </a:r>
            <a:br/>
            <a:r>
              <a:t>• Hardened Cisco IOS-XE</a:t>
            </a:r>
            <a:br/>
            <a:r>
              <a:t>• StrongSwan &amp; Ansible Push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572000"/>
            <a:ext cx="2697480" cy="1691640"/>
          </a:xfrm>
          <a:prstGeom prst="rect">
            <a:avLst/>
          </a:prstGeom>
          <a:solidFill>
            <a:srgbClr val="F8FAFC"/>
          </a:solidFill>
          <a:ln w="19050"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b="1" sz="1100">
                <a:solidFill>
                  <a:srgbClr val="C81E1E"/>
                </a:solidFill>
              </a:defRPr>
            </a:pPr>
            <a:r>
              <a:t>Selected &lt; Offer Intersection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Result: HIGH CNR (Downgrade)</a:t>
            </a:r>
            <a:br/>
            <a:r>
              <a:t>Proves peers settled on a weak cipher despite both supporting stronger ones.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4572000"/>
            <a:ext cx="2697480" cy="1691640"/>
          </a:xfrm>
          <a:prstGeom prst="rect">
            <a:avLst/>
          </a:prstGeom>
          <a:solidFill>
            <a:srgbClr val="F8FAFC"/>
          </a:solidFill>
          <a:ln w="19050">
            <a:solidFill>
              <a:srgbClr val="134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b="1" sz="1100">
                <a:solidFill>
                  <a:srgbClr val="134074"/>
                </a:solidFill>
              </a:defRPr>
            </a:pPr>
            <a:r>
              <a:t>ESP Min Length &lt; 72B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Result: Transport Mode Inferred</a:t>
            </a:r>
            <a:br/>
            <a:r>
              <a:t>Distinct Layer 4 TCP ACK footprints without inner IP header overhead.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3056" y="4572000"/>
            <a:ext cx="2697480" cy="1691640"/>
          </a:xfrm>
          <a:prstGeom prst="rect">
            <a:avLst/>
          </a:prstGeom>
          <a:solidFill>
            <a:srgbClr val="F8FAFC"/>
          </a:solidFill>
          <a:ln w="19050">
            <a:solidFill>
              <a:srgbClr val="EE6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b="1" sz="1100">
                <a:solidFill>
                  <a:srgbClr val="EE6C4D"/>
                </a:solidFill>
              </a:defRPr>
            </a:pPr>
            <a:r>
              <a:t>Classical DH Only (No ML-KEM)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Result: Critical HNDL Window</a:t>
            </a:r>
            <a:br/>
            <a:r>
              <a:t>Shor's algorithm exposure window: 0-5 years confidentiality life.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15984" y="4572000"/>
            <a:ext cx="2697480" cy="1691640"/>
          </a:xfrm>
          <a:prstGeom prst="rect">
            <a:avLst/>
          </a:prstGeom>
          <a:solidFill>
            <a:srgbClr val="F8FAFC"/>
          </a:solidFill>
          <a:ln w="19050">
            <a:solidFill>
              <a:srgbClr val="18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b="1" sz="1100">
                <a:solidFill>
                  <a:srgbClr val="188C5D"/>
                </a:solidFill>
              </a:defRPr>
            </a:pPr>
            <a:r>
              <a:t>Deterministic AST Compiler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Result: Instant Hardened Remediation</a:t>
            </a:r>
            <a:br/>
            <a:r>
              <a:t>Outputs production configs for Cisco, Fortinet, StrongSwan &amp; Ansible.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  FEASIBILITY, RISK ANALYSIS &amp; MITIGATION MATRIX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0" y="502920"/>
            <a:ext cx="3108960" cy="548640"/>
          </a:xfrm>
          <a:prstGeom prst="roundRect">
            <a:avLst/>
          </a:prstGeom>
          <a:solidFill>
            <a:srgbClr val="00A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SIH26160 |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SIH 2026 Idea Submission | Team Praxis (ID: 132859) | Indian Institute of Technology Jodhpur | PS: SIH26160 (NTRO)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47472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b="1" sz="1300">
                <a:solidFill>
                  <a:srgbClr val="188C5D"/>
                </a:solidFill>
              </a:defRPr>
            </a:pPr>
            <a:r>
              <a:t>FEASIBILITY: WHY THIS SHIPS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Fully Operational Prototype: Complete end-to-end Python prototype with native binary IKE parser, ESP analyzer, Z3 verifier, and CLI already executed and verified.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Zero Decryption Overhead: Analyzes headers and statistical entropy; requires no private keys and zero payload decryption.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Standards Compliant: Rules strictly encode public standards: NIST SP 800-77r1, BSI TR-02102-3, RFC 8247, and CNSA 2.0.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Sovereign &amp; Air-Gapped Ready: Operates 100% on-premises; zero cloud dependencies, perfect for NTRO, DRDO, and Armed Forces environments.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Line-Rate Performance: eBPF/XDP zero-copy ring buffer handles 10Gbps+ wire speeds without dropping packets.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371600"/>
            <a:ext cx="34747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E6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b="1" sz="1300">
                <a:solidFill>
                  <a:srgbClr val="EE6C4D"/>
                </a:solidFill>
              </a:defRPr>
            </a:pPr>
            <a:r>
              <a:t>POTENTIAL CHALLENGES &amp; RISKS</a:t>
            </a:r>
          </a:p>
          <a:p>
            <a:pPr>
              <a:defRPr b="1" sz="1050">
                <a:solidFill>
                  <a:srgbClr val="0B2545"/>
                </a:solidFill>
              </a:defRPr>
            </a:pPr>
            <a:r>
              <a:t>▲ Encrypted Later IKE Phases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IKEv2 CREATE_CHILD_SA payloads are encrypted after initial SA setup.</a:t>
            </a:r>
          </a:p>
          <a:p>
            <a:pPr>
              <a:defRPr b="1" sz="1050">
                <a:solidFill>
                  <a:srgbClr val="0B2545"/>
                </a:solidFill>
              </a:defRPr>
            </a:pPr>
            <a:r>
              <a:t>▲ Vendor Proprietary NAT-T Oddities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Non-standard NAT-T ports and proprietary vendor payload padding.</a:t>
            </a:r>
          </a:p>
          <a:p>
            <a:pPr>
              <a:defRPr b="1" sz="1050">
                <a:solidFill>
                  <a:srgbClr val="0B2545"/>
                </a:solidFill>
              </a:defRPr>
            </a:pPr>
            <a:r>
              <a:t>▲ False Positives in AI Analysis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Generic ML classifiers hallucinate on unknown cipher suites.</a:t>
            </a:r>
          </a:p>
          <a:p>
            <a:pPr>
              <a:defRPr b="1" sz="1050">
                <a:solidFill>
                  <a:srgbClr val="0B2545"/>
                </a:solidFill>
              </a:defRPr>
            </a:pPr>
            <a:r>
              <a:t>▲ Classified Defense Traffic &amp; Air-Gap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Cannot send packet captures to external cloud LLM APIs.</a:t>
            </a:r>
          </a:p>
          <a:p>
            <a:pPr>
              <a:defRPr b="1" sz="1050">
                <a:solidFill>
                  <a:srgbClr val="0B2545"/>
                </a:solidFill>
              </a:defRPr>
            </a:pPr>
            <a:r>
              <a:t>▲ High-Speed Wire Drops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Conventional user-space packet capturing drops packets at 10Gbps+.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371600"/>
            <a:ext cx="3962095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134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b="1" sz="1300">
                <a:solidFill>
                  <a:srgbClr val="134074"/>
                </a:solidFill>
              </a:defRPr>
            </a:pPr>
            <a:r>
              <a:t>MITIGATION STRATEGY (IF → THEN)</a:t>
            </a:r>
          </a:p>
          <a:p>
            <a:pPr>
              <a:defRPr b="1" sz="1000">
                <a:solidFill>
                  <a:srgbClr val="C81E1E"/>
                </a:solidFill>
              </a:defRPr>
            </a:pPr>
            <a:r>
              <a:t>IF IKE Phase 2 is encrypted →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THEN our PECF engine computes modulo padding residue &amp; entropy on ESP to identify cipher family &amp; mode blindly.</a:t>
            </a:r>
          </a:p>
          <a:p>
            <a:pPr>
              <a:defRPr b="1" sz="1000">
                <a:solidFill>
                  <a:srgbClr val="C81E1E"/>
                </a:solidFill>
              </a:defRPr>
            </a:pPr>
            <a:r>
              <a:t>IF vendor uses proprietary NAT-T →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THEN automated Vendor-ID hash matching maps headers into specialized vendor dissector packs.</a:t>
            </a:r>
          </a:p>
          <a:p>
            <a:pPr>
              <a:defRPr b="1" sz="1000">
                <a:solidFill>
                  <a:srgbClr val="C81E1E"/>
                </a:solidFill>
              </a:defRPr>
            </a:pPr>
            <a:r>
              <a:t>IF AI hallucinations occur →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THEN we replace fuzzy AI with deterministic Z3 SMT formal solver; mathematically guaranteed zero false alarms.</a:t>
            </a:r>
          </a:p>
          <a:p>
            <a:pPr>
              <a:defRPr b="1" sz="1000">
                <a:solidFill>
                  <a:srgbClr val="C81E1E"/>
                </a:solidFill>
              </a:defRPr>
            </a:pPr>
            <a:r>
              <a:t>IF deployed in air-gapped defense →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THEN entire framework runs locally as an on-prem appliance with local offline SLM &amp; USB policy updates.</a:t>
            </a:r>
          </a:p>
          <a:p>
            <a:pPr>
              <a:defRPr b="1" sz="1000">
                <a:solidFill>
                  <a:srgbClr val="C81E1E"/>
                </a:solidFill>
              </a:defRPr>
            </a:pPr>
            <a:r>
              <a:t>IF wire speed exceeds 10Gbps →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THEN native eBPF/XDP kernel-bypass filtering inspects only metadata headers directly in NIC driver.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  IMPACT, BENEFITS &amp; VALUE PROPOSITION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0" y="502920"/>
            <a:ext cx="3108960" cy="548640"/>
          </a:xfrm>
          <a:prstGeom prst="roundRect">
            <a:avLst/>
          </a:prstGeom>
          <a:solidFill>
            <a:srgbClr val="00A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SIH26160 |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SIH 2026 Idea Submission | Team Praxis (ID: 132859) | Indian Institute of Technology Jodhpur | PS: SIH26160 (NTRO)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2697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b="1" sz="1150">
                <a:solidFill>
                  <a:srgbClr val="0B2545"/>
                </a:solidFill>
              </a:defRPr>
            </a:pPr>
            <a:r>
              <a:t>NTRO &amp; Defense SOC</a:t>
            </a:r>
          </a:p>
          <a:p>
            <a:br/>
            <a:pPr>
              <a:defRPr sz="900">
                <a:solidFill>
                  <a:srgbClr val="1E293B"/>
                </a:solidFill>
              </a:defRPr>
            </a:pPr>
            <a:r>
              <a:t>Wire-Truth Verification: Passive verification of sovereign military IPsec corridors without breaking encryption or alerting targets.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10128" y="1325880"/>
            <a:ext cx="2697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34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b="1" sz="1150">
                <a:solidFill>
                  <a:srgbClr val="134074"/>
                </a:solidFill>
              </a:defRPr>
            </a:pPr>
            <a:r>
              <a:t>CERT-In &amp; Auditors</a:t>
            </a:r>
          </a:p>
          <a:p>
            <a:br/>
            <a:pPr>
              <a:defRPr sz="900">
                <a:solidFill>
                  <a:srgbClr val="1E293B"/>
                </a:solidFill>
              </a:defRPr>
            </a:pPr>
            <a:r>
              <a:t>Cryptographic Posture Certs (CPC): Machine-signed audit certificates citing exact NIST/BSI clauses for regulatory enforcement.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6" y="1325880"/>
            <a:ext cx="2697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b="1" sz="1150">
                <a:solidFill>
                  <a:srgbClr val="188C5D"/>
                </a:solidFill>
              </a:defRPr>
            </a:pPr>
            <a:r>
              <a:t>Ministries, Banks &amp; PSUs</a:t>
            </a:r>
          </a:p>
          <a:p>
            <a:br/>
            <a:pPr>
              <a:defRPr sz="900">
                <a:solidFill>
                  <a:srgbClr val="1E293B"/>
                </a:solidFill>
              </a:defRPr>
            </a:pPr>
            <a:r>
              <a:t>Automated Fleet Audits: Scans thousands of branch WAN &amp; ATM tunnels in minutes; flags first-match downgrade attacks automatically.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15984" y="1325880"/>
            <a:ext cx="2697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6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b="1" sz="1150">
                <a:solidFill>
                  <a:srgbClr val="EE6C4D"/>
                </a:solidFill>
              </a:defRPr>
            </a:pPr>
            <a:r>
              <a:t>Telecom &amp; Cloud OEMs</a:t>
            </a:r>
          </a:p>
          <a:p>
            <a:br/>
            <a:pPr>
              <a:defRPr sz="900">
                <a:solidFill>
                  <a:srgbClr val="1E293B"/>
                </a:solidFill>
              </a:defRPr>
            </a:pPr>
            <a:r>
              <a:t>Co-Sell Security SKU: Embeddable engine for Cisco, Fortinet, and AWS/Azure to audit hybrid cloud IPsec tunnels.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112772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BENEFIT FLOW:  [Weak SA on Wire]  ➔  [TRINETRA PECF &amp; SMT]  ➔  [Strategic PQC Runway]  ➔  [1-Click Multi-Vendor Remediation]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40480"/>
            <a:ext cx="5486400" cy="2423160"/>
          </a:xfrm>
          <a:prstGeom prst="roundRect">
            <a:avLst/>
          </a:prstGeom>
          <a:solidFill>
            <a:srgbClr val="FEF2F2"/>
          </a:solidFill>
          <a:ln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b="1" sz="1200">
                <a:solidFill>
                  <a:srgbClr val="C81E1E"/>
                </a:solidFill>
              </a:defRPr>
            </a:pPr>
            <a:r>
              <a:t>TRADITIONAL TOOLS (TODAY)</a:t>
            </a:r>
          </a:p>
          <a:p>
            <a:pPr>
              <a:defRPr sz="950">
                <a:solidFill>
                  <a:srgbClr val="7F1D1D"/>
                </a:solidFill>
              </a:defRPr>
            </a:pPr>
            <a:r>
              <a:t>✕ Raw packet dumps (Wireshark/Zeek) requiring hours of manual expert review.</a:t>
            </a:r>
          </a:p>
          <a:p>
            <a:pPr>
              <a:defRPr sz="950">
                <a:solidFill>
                  <a:srgbClr val="7F1D1D"/>
                </a:solidFill>
              </a:defRPr>
            </a:pPr>
            <a:r>
              <a:t>✕ Completely blind to encrypted ESP packets; unable to detect active cipher suite or tunnel mode.</a:t>
            </a:r>
          </a:p>
          <a:p>
            <a:pPr>
              <a:defRPr sz="950">
                <a:solidFill>
                  <a:srgbClr val="7F1D1D"/>
                </a:solidFill>
              </a:defRPr>
            </a:pPr>
            <a:r>
              <a:t>✕ No concept of downgrade detection: cannot prove if peers had stronger suites available.</a:t>
            </a:r>
          </a:p>
          <a:p>
            <a:pPr>
              <a:defRPr sz="950">
                <a:solidFill>
                  <a:srgbClr val="7F1D1D"/>
                </a:solidFill>
              </a:defRPr>
            </a:pPr>
            <a:r>
              <a:t>✕ Zero post-quantum intelligence: blind to 'Harvest Now, Decrypt Later' (HNDL) threats.</a:t>
            </a:r>
          </a:p>
          <a:p>
            <a:pPr>
              <a:defRPr sz="950">
                <a:solidFill>
                  <a:srgbClr val="7F1D1D"/>
                </a:solidFill>
              </a:defRPr>
            </a:pPr>
            <a:r>
              <a:t>✕ Manual remediation: network admins manually craft router configs, risking human error.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3840480"/>
            <a:ext cx="5486400" cy="2423160"/>
          </a:xfrm>
          <a:prstGeom prst="roundRect">
            <a:avLst/>
          </a:prstGeom>
          <a:solidFill>
            <a:srgbClr val="F0FDF4"/>
          </a:solidFill>
          <a:ln>
            <a:solidFill>
              <a:srgbClr val="18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b="1" sz="1200">
                <a:solidFill>
                  <a:srgbClr val="188C5D"/>
                </a:solidFill>
              </a:defRPr>
            </a:pPr>
            <a:r>
              <a:t>TRINETRA-SENTINEL (OUR BREAKTHROUGH)</a:t>
            </a:r>
          </a:p>
          <a:p>
            <a:pPr>
              <a:defRPr sz="950">
                <a:solidFill>
                  <a:srgbClr val="14532D"/>
                </a:solidFill>
              </a:defRPr>
            </a:pPr>
            <a:r>
              <a:t>✓ Instant, automated 0-100 Cryptographic Posture Score with formal mathematical proofs.</a:t>
            </a:r>
          </a:p>
          <a:p>
            <a:pPr>
              <a:defRPr sz="950">
                <a:solidFill>
                  <a:srgbClr val="14532D"/>
                </a:solidFill>
              </a:defRPr>
            </a:pPr>
            <a:r>
              <a:t>✓ Blind ESP side-channel inference: identifies block cipher family &amp; Tunnel vs Transport with 99%+ confidence.</a:t>
            </a:r>
          </a:p>
          <a:p>
            <a:pPr>
              <a:defRPr sz="950">
                <a:solidFill>
                  <a:srgbClr val="14532D"/>
                </a:solidFill>
              </a:defRPr>
            </a:pPr>
            <a:r>
              <a:t>✓ Cryptographic Negotiation Regret (CNR): proves whether negotiation settled on weak suites unnecessarily.</a:t>
            </a:r>
          </a:p>
          <a:p>
            <a:pPr>
              <a:defRPr sz="950">
                <a:solidFill>
                  <a:srgbClr val="14532D"/>
                </a:solidFill>
              </a:defRPr>
            </a:pPr>
            <a:r>
              <a:t>✓ Predictive Quantum Threat Engine: calculates exact secrecy half-life under Shor's &amp; Grover's attacks.</a:t>
            </a:r>
          </a:p>
          <a:p>
            <a:pPr>
              <a:defRPr sz="950">
                <a:solidFill>
                  <a:srgbClr val="14532D"/>
                </a:solidFill>
              </a:defRPr>
            </a:pPr>
            <a:r>
              <a:t>✓ Autonomous remediation: synthesizes ready-to-deploy configs for Cisco, Fortinet, StrongSwan &amp; Ansible.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  RESEARCH, STANDARDS &amp; PATENT NOVELTY CLAIMS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0" y="502920"/>
            <a:ext cx="3108960" cy="548640"/>
          </a:xfrm>
          <a:prstGeom prst="roundRect">
            <a:avLst/>
          </a:prstGeom>
          <a:solidFill>
            <a:srgbClr val="00A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SIH26160 |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SIH 2026 Idea Submission | Team Praxis (ID: 132859) | Indian Institute of Technology Jodhpur | PS: SIH26160 (NTRO)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9496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134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b="1" sz="1250">
                <a:solidFill>
                  <a:srgbClr val="0B2545"/>
                </a:solidFill>
              </a:defRPr>
            </a:pPr>
            <a:r>
              <a:t>STANDARDS &amp; POLICY FORMALIZATION</a:t>
            </a:r>
          </a:p>
          <a:p>
            <a:pPr>
              <a:defRPr b="1" sz="950">
                <a:solidFill>
                  <a:srgbClr val="134074"/>
                </a:solidFill>
              </a:defRPr>
            </a:pPr>
            <a:r>
              <a:t>• NIST SP 800-77 Rev. 1: </a:t>
            </a:r>
            <a:r>
              <a:rPr b="0" sz="950">
                <a:solidFill>
                  <a:srgbClr val="1E293B"/>
                </a:solidFill>
              </a:rPr>
              <a:t>Guide to IPsec VPNs: mandates phasing out 3DES/SHA-1 and adopting AEAD (AES-GCM).</a:t>
            </a:r>
          </a:p>
          <a:p>
            <a:pPr>
              <a:defRPr b="1" sz="950">
                <a:solidFill>
                  <a:srgbClr val="134074"/>
                </a:solidFill>
              </a:defRPr>
            </a:pPr>
            <a:r>
              <a:t>• BSI TR-02102-3 (Germany): </a:t>
            </a:r>
            <a:r>
              <a:rPr b="0" sz="950">
                <a:solidFill>
                  <a:srgbClr val="1E293B"/>
                </a:solidFill>
              </a:rPr>
              <a:t>Cryptographic Mechanisms for IPsec: key sizes and forbidden non-EtM CBC modes.</a:t>
            </a:r>
          </a:p>
          <a:p>
            <a:pPr>
              <a:defRPr b="1" sz="950">
                <a:solidFill>
                  <a:srgbClr val="134074"/>
                </a:solidFill>
              </a:defRPr>
            </a:pPr>
            <a:r>
              <a:t>• NSA CNSA 2.0 Directives: </a:t>
            </a:r>
            <a:r>
              <a:rPr b="0" sz="950">
                <a:solidFill>
                  <a:srgbClr val="1E293B"/>
                </a:solidFill>
              </a:rPr>
              <a:t>Commercial National Security Algorithm Suite 2.0: mandates Post-Quantum KEM (ML-KEM/Kyber).</a:t>
            </a:r>
          </a:p>
          <a:p>
            <a:pPr>
              <a:defRPr b="1" sz="950">
                <a:solidFill>
                  <a:srgbClr val="134074"/>
                </a:solidFill>
              </a:defRPr>
            </a:pPr>
            <a:r>
              <a:t>• RFC 7296 &amp; RFC 2409: </a:t>
            </a:r>
            <a:r>
              <a:rPr b="0" sz="950">
                <a:solidFill>
                  <a:srgbClr val="1E293B"/>
                </a:solidFill>
              </a:rPr>
              <a:t>Core IKEv2 and IKEv1 protocol grammar specifications.</a:t>
            </a:r>
          </a:p>
          <a:p>
            <a:pPr>
              <a:defRPr b="1" sz="950">
                <a:solidFill>
                  <a:srgbClr val="134074"/>
                </a:solidFill>
              </a:defRPr>
            </a:pPr>
            <a:r>
              <a:t>• RFC 8247 &amp; RFC 8221: </a:t>
            </a:r>
            <a:r>
              <a:rPr b="0" sz="950">
                <a:solidFill>
                  <a:srgbClr val="1E293B"/>
                </a:solidFill>
              </a:rPr>
              <a:t>Cryptographic Algorithm Implementation Requirements for ESP, AH, and IKEv2.</a:t>
            </a:r>
          </a:p>
          <a:p>
            <a:pPr>
              <a:defRPr b="1" sz="950">
                <a:solidFill>
                  <a:srgbClr val="134074"/>
                </a:solidFill>
              </a:defRPr>
            </a:pPr>
            <a:r>
              <a:t>• RFC 9370 &amp; RFC 9242: </a:t>
            </a:r>
            <a:r>
              <a:rPr b="0" sz="950">
                <a:solidFill>
                  <a:srgbClr val="1E293B"/>
                </a:solidFill>
              </a:rPr>
              <a:t>Multiple Key Exchanges in IKEv2 (Post-Quantum Hybridization standard).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39496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E6C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b="1" sz="1250">
                <a:solidFill>
                  <a:srgbClr val="EE6C4D"/>
                </a:solidFill>
              </a:defRPr>
            </a:pPr>
            <a:r>
              <a:t>PRIOR ART WE GO BEYOND</a:t>
            </a:r>
          </a:p>
          <a:p>
            <a:pPr>
              <a:defRPr b="1" sz="950">
                <a:solidFill>
                  <a:srgbClr val="0B2545"/>
                </a:solidFill>
              </a:defRPr>
            </a:pPr>
            <a:r>
              <a:t>▲ Wireshark &amp; Zeek IPsec Analyzers: </a:t>
            </a:r>
            <a:r>
              <a:rPr b="0" sz="950">
                <a:solidFill>
                  <a:srgbClr val="1E293B"/>
                </a:solidFill>
              </a:rPr>
              <a:t>Only dissect unencrypted IKE handshakes; completely blind to ESP data plane and provide no automated posture score or remediation.</a:t>
            </a:r>
          </a:p>
          <a:p>
            <a:pPr>
              <a:defRPr b="1" sz="950">
                <a:solidFill>
                  <a:srgbClr val="0B2545"/>
                </a:solidFill>
              </a:defRPr>
            </a:pPr>
            <a:r>
              <a:t>▲ ike-scan Active Scanner: </a:t>
            </a:r>
            <a:r>
              <a:rPr b="0" sz="950">
                <a:solidFill>
                  <a:srgbClr val="1E293B"/>
                </a:solidFill>
              </a:rPr>
              <a:t>Relies on active probing which alerts defense firewalls and leaks intelligence; NTRO mandates purely PASSIVE inspection.</a:t>
            </a:r>
          </a:p>
          <a:p>
            <a:pPr>
              <a:defRPr b="1" sz="950">
                <a:solidFill>
                  <a:srgbClr val="0B2545"/>
                </a:solidFill>
              </a:defRPr>
            </a:pPr>
            <a:r>
              <a:t>▲ CIS Benchmarks &amp; CLI Auditors: </a:t>
            </a:r>
            <a:r>
              <a:rPr b="0" sz="950">
                <a:solidFill>
                  <a:srgbClr val="1E293B"/>
                </a:solidFill>
              </a:rPr>
              <a:t>Audit static router text files, failing to inspect wire truth (e.g. negotiation downgrade and dynamic traffic rekeying).</a:t>
            </a:r>
          </a:p>
          <a:p>
            <a:pPr>
              <a:defRPr b="1" sz="950">
                <a:solidFill>
                  <a:srgbClr val="0B2545"/>
                </a:solidFill>
              </a:defRPr>
            </a:pPr>
            <a:r>
              <a:t>▲ Commercial DPI Appliances: </a:t>
            </a:r>
            <a:r>
              <a:rPr b="0" sz="950">
                <a:solidFill>
                  <a:srgbClr val="1E293B"/>
                </a:solidFill>
              </a:rPr>
              <a:t>Require TLS/IPsec private key escrow, completely violating zero-trust and defense data privacy mandates.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166360"/>
            <a:ext cx="11277295" cy="1097280"/>
          </a:xfrm>
          <a:prstGeom prst="roundRect">
            <a:avLst/>
          </a:prstGeom>
          <a:solidFill>
            <a:srgbClr val="0B2545"/>
          </a:solidFill>
          <a:ln w="25400">
            <a:solidFill>
              <a:srgbClr val="00A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b="1" sz="1100">
                <a:solidFill>
                  <a:srgbClr val="00A8CC"/>
                </a:solidFill>
              </a:defRPr>
            </a:pPr>
            <a:r>
              <a:t>PATENT NOVELTY CLAIMS (READY FOR FILING UNDER INDIAN PATENT OFFICE &amp; PCT):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Claim 1: Passive Epistemic Cryptographic Fingerprinting (PECF) of Encrypted ESP Streams via Modulo Padding Residues &amp; Multi-Scale Entropy.</a:t>
            </a:r>
            <a:br/>
            <a:r>
              <a:t>Claim 2: Neuro-Symbolic SMT Formal Verification Engine with Automated AST Multi-Vendor Configuration Remediation Synthesis.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