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365760" y="1234440"/>
            <a:ext cx="5623560" cy="3977639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1300" b="1" i="0">
                <a:solidFill>
                  <a:srgbClr val="1E3A8A"/>
                </a:solidFill>
                <a:latin typeface="Calibri"/>
              </a:rPr>
              <a:t>PROBLEM STATEMENT &amp; PROJECT DETAILS</a:t>
            </a:r>
          </a:p>
          <a:p>
            <a:pPr>
              <a:spcBef>
                <a:spcPts val="500"/>
              </a:spcBef>
            </a:pPr>
            <a:r>
              <a:rPr sz="1150" b="1" i="0">
                <a:solidFill>
                  <a:srgbClr val="0B2545"/>
                </a:solidFill>
                <a:latin typeface="Calibri"/>
              </a:rPr>
              <a:t>• Problem Statement ID:</a:t>
            </a:r>
            <a:r>
              <a:rPr sz="1150" b="1" i="0">
                <a:solidFill>
                  <a:srgbClr val="334155"/>
                </a:solidFill>
                <a:latin typeface="Calibri"/>
              </a:rPr>
              <a:t> SIH26160</a:t>
            </a:r>
          </a:p>
          <a:p>
            <a:pPr>
              <a:spcBef>
                <a:spcPts val="500"/>
              </a:spcBef>
            </a:pPr>
            <a:r>
              <a:rPr sz="1150" b="1" i="0">
                <a:solidFill>
                  <a:srgbClr val="0B2545"/>
                </a:solidFill>
                <a:latin typeface="Calibri"/>
              </a:rPr>
              <a:t>• PS Title:</a:t>
            </a:r>
            <a:r>
              <a:rPr sz="1150" b="0" i="0">
                <a:solidFill>
                  <a:srgbClr val="334155"/>
                </a:solidFill>
                <a:latin typeface="Calibri"/>
              </a:rPr>
              <a:t> AI-Powered IPsec VPN Protocol Analyzer &amp; Security Assessment Framework</a:t>
            </a:r>
          </a:p>
          <a:p>
            <a:pPr>
              <a:spcBef>
                <a:spcPts val="500"/>
              </a:spcBef>
            </a:pPr>
            <a:r>
              <a:rPr sz="1150" b="1" i="0">
                <a:solidFill>
                  <a:srgbClr val="0B2545"/>
                </a:solidFill>
                <a:latin typeface="Calibri"/>
              </a:rPr>
              <a:t>• Project Codename:</a:t>
            </a:r>
            <a:r>
              <a:rPr sz="1150" b="1" i="0">
                <a:solidFill>
                  <a:srgbClr val="334155"/>
                </a:solidFill>
                <a:latin typeface="Calibri"/>
              </a:rPr>
              <a:t> IPsight (Solution v2.0)</a:t>
            </a:r>
          </a:p>
          <a:p>
            <a:pPr>
              <a:spcBef>
                <a:spcPts val="500"/>
              </a:spcBef>
            </a:pPr>
            <a:r>
              <a:rPr sz="1150" b="1" i="0">
                <a:solidFill>
                  <a:srgbClr val="0B2545"/>
                </a:solidFill>
                <a:latin typeface="Calibri"/>
              </a:rPr>
              <a:t>• Sponsoring Agency:</a:t>
            </a:r>
            <a:r>
              <a:rPr sz="1150" b="0" i="0">
                <a:solidFill>
                  <a:srgbClr val="334155"/>
                </a:solidFill>
                <a:latin typeface="Calibri"/>
              </a:rPr>
              <a:t> National Technical Research Organisation (NTRO)</a:t>
            </a:r>
          </a:p>
          <a:p>
            <a:pPr>
              <a:spcBef>
                <a:spcPts val="500"/>
              </a:spcBef>
            </a:pPr>
            <a:r>
              <a:rPr sz="1150" b="1" i="0">
                <a:solidFill>
                  <a:srgbClr val="0B2545"/>
                </a:solidFill>
                <a:latin typeface="Calibri"/>
              </a:rPr>
              <a:t>• Theme &amp; Category:</a:t>
            </a:r>
            <a:r>
              <a:rPr sz="1150" b="0" i="0">
                <a:solidFill>
                  <a:srgbClr val="334155"/>
                </a:solidFill>
                <a:latin typeface="Calibri"/>
              </a:rPr>
              <a:t> Blockchain &amp; Cybersecurity | Software</a:t>
            </a:r>
          </a:p>
          <a:p>
            <a:pPr>
              <a:spcBef>
                <a:spcPts val="500"/>
              </a:spcBef>
            </a:pPr>
            <a:r>
              <a:rPr sz="1150" b="1" i="0">
                <a:solidFill>
                  <a:srgbClr val="0B2545"/>
                </a:solidFill>
                <a:latin typeface="Calibri"/>
              </a:rPr>
              <a:t>• Team ID &amp; Name:</a:t>
            </a:r>
            <a:r>
              <a:rPr sz="1150" b="1" i="0">
                <a:solidFill>
                  <a:srgbClr val="334155"/>
                </a:solidFill>
                <a:latin typeface="Calibri"/>
              </a:rPr>
              <a:t> 132859 | Team Praxis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1234440"/>
            <a:ext cx="5650992" cy="3977639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1300" b="1" i="0">
                <a:solidFill>
                  <a:srgbClr val="0284C7"/>
                </a:solidFill>
                <a:latin typeface="Calibri"/>
              </a:rPr>
              <a:t>TEAM PRAXIS — IIT JODHPUR (AISHE: U-0395)</a:t>
            </a:r>
          </a:p>
          <a:p>
            <a:pPr>
              <a:spcBef>
                <a:spcPts val="400"/>
              </a:spcBef>
            </a:pPr>
            <a:r>
              <a:rPr sz="1100" b="1" i="0">
                <a:solidFill>
                  <a:srgbClr val="0B2545"/>
                </a:solidFill>
                <a:latin typeface="Calibri"/>
              </a:rPr>
              <a:t>• Team Leader: </a:t>
            </a:r>
            <a:r>
              <a:rPr sz="1100" b="1" i="0">
                <a:solidFill>
                  <a:srgbClr val="1E3A8A"/>
                </a:solidFill>
                <a:latin typeface="Calibri"/>
              </a:rPr>
              <a:t>Kumari Ankita </a:t>
            </a:r>
            <a:r>
              <a:rPr sz="1000" b="0" i="0">
                <a:solidFill>
                  <a:srgbClr val="64748B"/>
                </a:solidFill>
                <a:latin typeface="Calibri"/>
              </a:rPr>
              <a:t>(B.Tech AI &amp; Data Science (2nd Year))</a:t>
            </a:r>
          </a:p>
          <a:p>
            <a:pPr>
              <a:spcBef>
                <a:spcPts val="400"/>
              </a:spcBef>
            </a:pPr>
            <a:r>
              <a:rPr sz="1100" b="1" i="0">
                <a:solidFill>
                  <a:srgbClr val="0B2545"/>
                </a:solidFill>
                <a:latin typeface="Calibri"/>
              </a:rPr>
              <a:t>• Team Member: </a:t>
            </a:r>
            <a:r>
              <a:rPr sz="1100" b="1" i="0">
                <a:solidFill>
                  <a:srgbClr val="1E3A8A"/>
                </a:solidFill>
                <a:latin typeface="Calibri"/>
              </a:rPr>
              <a:t>Nandini Dhawan </a:t>
            </a:r>
            <a:r>
              <a:rPr sz="1000" b="0" i="0">
                <a:solidFill>
                  <a:srgbClr val="64748B"/>
                </a:solidFill>
                <a:latin typeface="Calibri"/>
              </a:rPr>
              <a:t>(B.Tech AI &amp; Data Science (2nd Year))</a:t>
            </a:r>
          </a:p>
          <a:p>
            <a:pPr>
              <a:spcBef>
                <a:spcPts val="400"/>
              </a:spcBef>
            </a:pPr>
            <a:r>
              <a:rPr sz="1100" b="1" i="0">
                <a:solidFill>
                  <a:srgbClr val="0B2545"/>
                </a:solidFill>
                <a:latin typeface="Calibri"/>
              </a:rPr>
              <a:t>• Team Member: </a:t>
            </a:r>
            <a:r>
              <a:rPr sz="1100" b="1" i="0">
                <a:solidFill>
                  <a:srgbClr val="1E3A8A"/>
                </a:solidFill>
                <a:latin typeface="Calibri"/>
              </a:rPr>
              <a:t>Chirag Jha </a:t>
            </a:r>
            <a:r>
              <a:rPr sz="1000" b="0" i="0">
                <a:solidFill>
                  <a:srgbClr val="64748B"/>
                </a:solidFill>
                <a:latin typeface="Calibri"/>
              </a:rPr>
              <a:t>(B.Tech AI &amp; Data Science (2nd Year))</a:t>
            </a:r>
          </a:p>
          <a:p>
            <a:pPr>
              <a:spcBef>
                <a:spcPts val="400"/>
              </a:spcBef>
            </a:pPr>
            <a:r>
              <a:rPr sz="1100" b="1" i="0">
                <a:solidFill>
                  <a:srgbClr val="0B2545"/>
                </a:solidFill>
                <a:latin typeface="Calibri"/>
              </a:rPr>
              <a:t>• Team Member: </a:t>
            </a:r>
            <a:r>
              <a:rPr sz="1100" b="1" i="0">
                <a:solidFill>
                  <a:srgbClr val="1E3A8A"/>
                </a:solidFill>
                <a:latin typeface="Calibri"/>
              </a:rPr>
              <a:t>Mayank Jangid </a:t>
            </a:r>
            <a:r>
              <a:rPr sz="1000" b="0" i="0">
                <a:solidFill>
                  <a:srgbClr val="64748B"/>
                </a:solidFill>
                <a:latin typeface="Calibri"/>
              </a:rPr>
              <a:t>(B.Tech AI &amp; Data Science (2nd Year))</a:t>
            </a:r>
          </a:p>
          <a:p>
            <a:pPr>
              <a:spcBef>
                <a:spcPts val="400"/>
              </a:spcBef>
            </a:pPr>
            <a:r>
              <a:rPr sz="1100" b="1" i="0">
                <a:solidFill>
                  <a:srgbClr val="0B2545"/>
                </a:solidFill>
                <a:latin typeface="Calibri"/>
              </a:rPr>
              <a:t>• Team Member: </a:t>
            </a:r>
            <a:r>
              <a:rPr sz="1100" b="1" i="0">
                <a:solidFill>
                  <a:srgbClr val="1E3A8A"/>
                </a:solidFill>
                <a:latin typeface="Calibri"/>
              </a:rPr>
              <a:t>Aayush </a:t>
            </a:r>
            <a:r>
              <a:rPr sz="1000" b="0" i="0">
                <a:solidFill>
                  <a:srgbClr val="64748B"/>
                </a:solidFill>
                <a:latin typeface="Calibri"/>
              </a:rPr>
              <a:t>(B.Tech AI &amp; Data Science (2nd Year))</a:t>
            </a:r>
          </a:p>
          <a:p>
            <a:pPr>
              <a:spcBef>
                <a:spcPts val="400"/>
              </a:spcBef>
            </a:pPr>
            <a:r>
              <a:rPr sz="1100" b="1" i="0">
                <a:solidFill>
                  <a:srgbClr val="0B2545"/>
                </a:solidFill>
                <a:latin typeface="Calibri"/>
              </a:rPr>
              <a:t>• Team Member: </a:t>
            </a:r>
            <a:r>
              <a:rPr sz="1100" b="1" i="0">
                <a:solidFill>
                  <a:srgbClr val="1E3A8A"/>
                </a:solidFill>
                <a:latin typeface="Calibri"/>
              </a:rPr>
              <a:t>Rudra Pratap Singh Chauhan </a:t>
            </a:r>
            <a:r>
              <a:rPr sz="1000" b="0" i="0">
                <a:solidFill>
                  <a:srgbClr val="64748B"/>
                </a:solidFill>
                <a:latin typeface="Calibri"/>
              </a:rPr>
              <a:t>(B.Tech AI &amp; Data Science (2nd Year))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349240"/>
            <a:ext cx="11457432" cy="86868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1100" b="1" i="0">
                <a:solidFill>
                  <a:srgbClr val="1E3A8A"/>
                </a:solidFill>
                <a:latin typeface="Calibri"/>
              </a:rPr>
              <a:t>CORE ARCHITECTURAL PRINCIPLE: </a:t>
            </a:r>
            <a:r>
              <a:rPr sz="1100" b="1" i="1">
                <a:solidFill>
                  <a:srgbClr val="0F172A"/>
                </a:solidFill>
                <a:latin typeface="Calibri"/>
              </a:rPr>
              <a:t>"Directly observe what IPsec exposes; infer only what metadata supports; label every inference with confidence."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64748B"/>
                </a:solidFill>
                <a:latin typeface="Calibri"/>
              </a:rPr>
              <a:t>100% Offline &amp; Air-Gapped  |  Zero-Key Passive Wire Inspection  |  Strict 3-Tier Evidence Provenance  |  Automated Remediation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 anchor="ctr"/>
          <a:lstStyle/>
          <a:p>
            <a:pPr eaLnBrk="1" hangingPunct="1" algn="ctr"/>
            <a:r>
              <a:rPr sz="1500" b="1" i="0">
                <a:solidFill>
                  <a:srgbClr val="0F172A"/>
                </a:solidFill>
                <a:latin typeface="Calibri"/>
              </a:rPr>
              <a:t>IPsight — AI-Powered IPsec VPN Protocol Analyzer &amp; Security Assessment Framework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B2545"/>
                </a:solidFill>
                <a:latin typeface="Calibri"/>
              </a:rPr>
              <a:t>Team
Praxis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365760" y="1188720"/>
            <a:ext cx="3657600" cy="4983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1200" b="1" i="0">
                <a:solidFill>
                  <a:srgbClr val="1E3A8A"/>
                </a:solidFill>
                <a:latin typeface="Calibri"/>
              </a:rPr>
              <a:t>1. PROPOSED SOLUTION &amp; PIPELINE</a:t>
            </a:r>
          </a:p>
          <a:p>
            <a:pPr>
              <a:spcBef>
                <a:spcPts val="400"/>
              </a:spcBef>
            </a:pPr>
            <a:r>
              <a:rPr sz="1050" b="1" i="0">
                <a:solidFill>
                  <a:srgbClr val="0F172A"/>
                </a:solidFill>
                <a:latin typeface="Calibri"/>
              </a:rPr>
              <a:t>Automated, 100% offline IPsec audit framework: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0B2545"/>
                </a:solidFill>
                <a:latin typeface="Calibri"/>
              </a:rPr>
              <a:t>• End-to-End Pipeline: </a:t>
            </a:r>
            <a:r>
              <a:rPr sz="1000" b="0" i="0">
                <a:solidFill>
                  <a:srgbClr val="334155"/>
                </a:solidFill>
                <a:latin typeface="Calibri"/>
              </a:rPr>
              <a:t>Automates testbed ➔ capture ➔ deep parsing ➔ AI flow inference ➔ security assessment ➔ vendor remediation in one zero-touch chain.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0B2545"/>
                </a:solidFill>
                <a:latin typeface="Calibri"/>
              </a:rPr>
              <a:t>• Zero-Key Passive Wire Audit: </a:t>
            </a:r>
            <a:r>
              <a:rPr sz="1000" b="0" i="0">
                <a:solidFill>
                  <a:srgbClr val="334155"/>
                </a:solidFill>
                <a:latin typeface="Calibri"/>
              </a:rPr>
              <a:t>Inspects IKE exchanges &amp; ESP headers passively without requiring device credentials or private keys.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0B2545"/>
                </a:solidFill>
                <a:latin typeface="Calibri"/>
              </a:rPr>
              <a:t>• 5-Head Calibrated AI Engine: </a:t>
            </a:r>
            <a:r>
              <a:rPr sz="1000" b="0" i="0">
                <a:solidFill>
                  <a:srgbClr val="334155"/>
                </a:solidFill>
                <a:latin typeface="Calibri"/>
              </a:rPr>
              <a:t>Identifies IKE versions, tunnel/transport modes, crypto profiles, anomalous SPI churn, and in-tunnel traffic behavior.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0B2545"/>
                </a:solidFill>
                <a:latin typeface="Calibri"/>
              </a:rPr>
              <a:t>• Automated Multi-Vendor Fixes: </a:t>
            </a:r>
            <a:r>
              <a:rPr sz="1000" b="0" i="0">
                <a:solidFill>
                  <a:srgbClr val="334155"/>
                </a:solidFill>
                <a:latin typeface="Calibri"/>
              </a:rPr>
              <a:t>Generates exact, copy-paste CLI remediation scripts for Cisco IOS-XE, Fortinet FortiOS, and strongSwan.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4261104" y="1188720"/>
            <a:ext cx="3657600" cy="4983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1200" b="1" i="0">
                <a:solidFill>
                  <a:srgbClr val="0284C7"/>
                </a:solidFill>
                <a:latin typeface="Calibri"/>
              </a:rPr>
              <a:t>2. HOW IT ADDRESSES THE PROBLEM</a:t>
            </a:r>
          </a:p>
          <a:p>
            <a:pPr>
              <a:spcBef>
                <a:spcPts val="400"/>
              </a:spcBef>
            </a:pPr>
            <a:r>
              <a:rPr sz="1050" b="1" i="0">
                <a:solidFill>
                  <a:srgbClr val="0F172A"/>
                </a:solidFill>
                <a:latin typeface="Calibri"/>
              </a:rPr>
              <a:t>Eliminating blind spots &amp; audit bottlenecks: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0B2545"/>
                </a:solidFill>
                <a:latin typeface="Calibri"/>
              </a:rPr>
              <a:t>• Sub-2 Minute Speed: </a:t>
            </a:r>
            <a:r>
              <a:rPr sz="1000" b="0" i="0">
                <a:solidFill>
                  <a:srgbClr val="334155"/>
                </a:solidFill>
                <a:latin typeface="Calibri"/>
              </a:rPr>
              <a:t>Replaces 3–5 days of manual Wireshark packet inspection with sub-2 minute automated audits (parses 100MB PCAP in &lt;2 min).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0B2545"/>
                </a:solidFill>
                <a:latin typeface="Calibri"/>
              </a:rPr>
              <a:t>• Detects Silent Downgrades: </a:t>
            </a:r>
            <a:r>
              <a:rPr sz="1000" b="0" i="0">
                <a:solidFill>
                  <a:srgbClr val="334155"/>
                </a:solidFill>
                <a:latin typeface="Calibri"/>
              </a:rPr>
              <a:t>Flags when responders accept weak ciphers (3DES, SHA-1, DH &lt;14) despite clients offering modern AEAD.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0B2545"/>
                </a:solidFill>
                <a:latin typeface="Calibri"/>
              </a:rPr>
              <a:t>• Exposes IKEv1 &amp; PSK Leaks: </a:t>
            </a:r>
            <a:r>
              <a:rPr sz="1000" b="0" i="0">
                <a:solidFill>
                  <a:srgbClr val="334155"/>
                </a:solidFill>
                <a:latin typeface="Calibri"/>
              </a:rPr>
              <a:t>Identifies deprecated IKEv1 Historic status and IKEv1 Aggressive Mode cleartext identity/hash exposures.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0B2545"/>
                </a:solidFill>
                <a:latin typeface="Calibri"/>
              </a:rPr>
              <a:t>• Encrypted Traffic Visibility: </a:t>
            </a:r>
            <a:r>
              <a:rPr sz="1000" b="0" i="0">
                <a:solidFill>
                  <a:srgbClr val="334155"/>
                </a:solidFill>
                <a:latin typeface="Calibri"/>
              </a:rPr>
              <a:t>Infers in-tunnel traffic categories (VoIP, Web, Video, Bulk) with ZERO payload decryption, preserving total privacy.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8156448" y="1188720"/>
            <a:ext cx="3657600" cy="4983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9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1200" b="1" i="0">
                <a:solidFill>
                  <a:srgbClr val="10955E"/>
                </a:solidFill>
                <a:latin typeface="Calibri"/>
              </a:rPr>
              <a:t>3. INNOVATION &amp; UNIQUENESS</a:t>
            </a:r>
          </a:p>
          <a:p>
            <a:pPr>
              <a:spcBef>
                <a:spcPts val="400"/>
              </a:spcBef>
            </a:pPr>
            <a:r>
              <a:rPr sz="1050" b="1" i="0">
                <a:solidFill>
                  <a:srgbClr val="0F172A"/>
                </a:solidFill>
                <a:latin typeface="Calibri"/>
              </a:rPr>
              <a:t>Defensible, defense-grade innovations: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0B2545"/>
                </a:solidFill>
                <a:latin typeface="Calibri"/>
              </a:rPr>
              <a:t>• 3-Tier Evidence Taxonomy: </a:t>
            </a:r>
            <a:r>
              <a:rPr sz="1000" b="0" i="0">
                <a:solidFill>
                  <a:srgbClr val="334155"/>
                </a:solidFill>
                <a:latin typeface="Calibri"/>
              </a:rPr>
              <a:t>Strictly categorizes parameters into DIRECT wire facts, INFERRED metadata models, and UNKNOWNS. Zero AI guessing.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0B2545"/>
                </a:solidFill>
                <a:latin typeface="Calibri"/>
              </a:rPr>
              <a:t>• Calibrated Behavior AI (SHAP): </a:t>
            </a:r>
            <a:r>
              <a:rPr sz="1000" b="0" i="0">
                <a:solidFill>
                  <a:srgbClr val="334155"/>
                </a:solidFill>
                <a:latin typeface="Calibri"/>
              </a:rPr>
              <a:t>Uses FFT inter-arrival timing (VoIP ~20ms periodicity) with Platt/Isotonic calibration and Brier reliability scores.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0B2545"/>
                </a:solidFill>
                <a:latin typeface="Calibri"/>
              </a:rPr>
              <a:t>• Dual Decoupled Scoring: </a:t>
            </a:r>
            <a:r>
              <a:rPr sz="1000" b="0" i="0">
                <a:solidFill>
                  <a:srgbClr val="334155"/>
                </a:solidFill>
                <a:latin typeface="Calibri"/>
              </a:rPr>
              <a:t>Calculates Security Posture (0–100, compliance) and Risk Urgency (0–100, threat level) + Likelihood × Impact Threat Matrix.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0B2545"/>
                </a:solidFill>
                <a:latin typeface="Calibri"/>
              </a:rPr>
              <a:t>• Post-Quantum (PQC) Runway: </a:t>
            </a:r>
            <a:r>
              <a:rPr sz="1000" b="0" i="0">
                <a:solidFill>
                  <a:srgbClr val="334155"/>
                </a:solidFill>
                <a:latin typeface="Calibri"/>
              </a:rPr>
              <a:t>Evaluates classical DH groups against RFC 9370 ML-KEM pathways to defend against 'Harvest Now, Decrypt Later' threats.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B2545"/>
                </a:solidFill>
                <a:latin typeface="Calibri"/>
              </a:rPr>
              <a:t>Team
Praxis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88720"/>
            <a:ext cx="2560320" cy="2468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100" b="1" i="0">
                <a:solidFill>
                  <a:srgbClr val="1E3A8A"/>
                </a:solidFill>
                <a:latin typeface="Calibri"/>
              </a:rPr>
              <a:t>STAGE 1: INGEST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B2545"/>
                </a:solidFill>
                <a:latin typeface="Calibri"/>
              </a:rPr>
              <a:t>• Input Feeds: </a:t>
            </a:r>
            <a:r>
              <a:rPr sz="900" b="0" i="0">
                <a:solidFill>
                  <a:srgbClr val="334155"/>
                </a:solidFill>
                <a:latin typeface="Calibri"/>
              </a:rPr>
              <a:t>PCAP, Live Tap, Configs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B2545"/>
                </a:solidFill>
                <a:latin typeface="Calibri"/>
              </a:rPr>
              <a:t>• Stream Splitter: </a:t>
            </a:r>
            <a:r>
              <a:rPr sz="900" b="0" i="0">
                <a:solidFill>
                  <a:srgbClr val="334155"/>
                </a:solidFill>
                <a:latin typeface="Calibri"/>
              </a:rPr>
              <a:t>UDP 500/4500 (IKE) vs ESP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B2545"/>
                </a:solidFill>
                <a:latin typeface="Calibri"/>
              </a:rPr>
              <a:t>• Sessionizer: </a:t>
            </a:r>
            <a:r>
              <a:rPr sz="900" b="0" i="0">
                <a:solidFill>
                  <a:srgbClr val="334155"/>
                </a:solidFill>
                <a:latin typeface="Calibri"/>
              </a:rPr>
              <a:t>5-Tuple + SPI tracking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B2545"/>
                </a:solidFill>
                <a:latin typeface="Calibri"/>
              </a:rPr>
              <a:t>• Throughput: </a:t>
            </a:r>
            <a:r>
              <a:rPr sz="900" b="1" i="0">
                <a:solidFill>
                  <a:srgbClr val="10955E"/>
                </a:solidFill>
                <a:latin typeface="Calibri"/>
              </a:rPr>
              <a:t>⚡ 100MB in &lt;2 mins</a:t>
            </a:r>
          </a:p>
        </p:txBody>
      </p:sp>
      <p:sp>
        <p:nvSpPr>
          <p:cNvPr id="17411" name="Right Arrow 17410"/>
          <p:cNvSpPr/>
          <p:nvPr/>
        </p:nvSpPr>
        <p:spPr>
          <a:xfrm>
            <a:off x="2999232" y="2331720"/>
            <a:ext cx="256032" cy="182880"/>
          </a:xfrm>
          <a:prstGeom prst="rightArrow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3328415" y="1188720"/>
            <a:ext cx="2560320" cy="2468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100" b="1" i="0">
                <a:solidFill>
                  <a:srgbClr val="6D28D9"/>
                </a:solidFill>
                <a:latin typeface="Calibri"/>
              </a:rPr>
              <a:t>STAGE 2: DISSECT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B2545"/>
                </a:solidFill>
                <a:latin typeface="Calibri"/>
              </a:rPr>
              <a:t>• IKE Parser: </a:t>
            </a:r>
            <a:r>
              <a:rPr sz="900" b="0" i="0">
                <a:solidFill>
                  <a:srgbClr val="334155"/>
                </a:solidFill>
                <a:latin typeface="Calibri"/>
              </a:rPr>
              <a:t>IKEv1/v2 proposals &amp; DH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B2545"/>
                </a:solidFill>
                <a:latin typeface="Calibri"/>
              </a:rPr>
              <a:t>• ESP Tracker: </a:t>
            </a:r>
            <a:r>
              <a:rPr sz="900" b="0" i="0">
                <a:solidFill>
                  <a:srgbClr val="334155"/>
                </a:solidFill>
                <a:latin typeface="Calibri"/>
              </a:rPr>
              <a:t>SPI integrity &amp; jitter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B2545"/>
                </a:solidFill>
                <a:latin typeface="Calibri"/>
              </a:rPr>
              <a:t>• Vendor IDs: </a:t>
            </a:r>
            <a:r>
              <a:rPr sz="900" b="0" i="0">
                <a:solidFill>
                  <a:srgbClr val="334155"/>
                </a:solidFill>
                <a:latin typeface="Calibri"/>
              </a:rPr>
              <a:t>Fingerprints ➔ CVE lookup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B2545"/>
                </a:solidFill>
                <a:latin typeface="Calibri"/>
              </a:rPr>
              <a:t>• Data Model: </a:t>
            </a:r>
            <a:r>
              <a:rPr sz="900" b="1" i="0">
                <a:solidFill>
                  <a:srgbClr val="10955E"/>
                </a:solidFill>
                <a:latin typeface="Calibri"/>
              </a:rPr>
              <a:t>⚡ Normalized JSON</a:t>
            </a:r>
          </a:p>
        </p:txBody>
      </p:sp>
      <p:sp>
        <p:nvSpPr>
          <p:cNvPr id="17413" name="Right Arrow 17412"/>
          <p:cNvSpPr/>
          <p:nvPr/>
        </p:nvSpPr>
        <p:spPr>
          <a:xfrm>
            <a:off x="5961888" y="2331720"/>
            <a:ext cx="256032" cy="182880"/>
          </a:xfrm>
          <a:prstGeom prst="rightArrow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6291072" y="1188720"/>
            <a:ext cx="2560320" cy="2468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100" b="1" i="0">
                <a:solidFill>
                  <a:srgbClr val="D97706"/>
                </a:solidFill>
                <a:latin typeface="Calibri"/>
              </a:rPr>
              <a:t>STAGE 3: AI INFER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B2545"/>
                </a:solidFill>
                <a:latin typeface="Calibri"/>
              </a:rPr>
              <a:t>• H1/H2 Classifiers: </a:t>
            </a:r>
            <a:r>
              <a:rPr sz="900" b="0" i="0">
                <a:solidFill>
                  <a:srgbClr val="334155"/>
                </a:solidFill>
                <a:latin typeface="Calibri"/>
              </a:rPr>
              <a:t>Protocol &amp; Mode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B2545"/>
                </a:solidFill>
                <a:latin typeface="Calibri"/>
              </a:rPr>
              <a:t>• H3 Crypto: </a:t>
            </a:r>
            <a:r>
              <a:rPr sz="900" b="0" i="0">
                <a:solidFill>
                  <a:srgbClr val="334155"/>
                </a:solidFill>
                <a:latin typeface="Calibri"/>
              </a:rPr>
              <a:t>Direct suite / ESP profile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B2545"/>
                </a:solidFill>
                <a:latin typeface="Calibri"/>
              </a:rPr>
              <a:t>• H4 Flow AI: </a:t>
            </a:r>
            <a:r>
              <a:rPr sz="900" b="0" i="0">
                <a:solidFill>
                  <a:srgbClr val="334155"/>
                </a:solidFill>
                <a:latin typeface="Calibri"/>
              </a:rPr>
              <a:t>FFT timing (VoIP ~20ms)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B2545"/>
                </a:solidFill>
                <a:latin typeface="Calibri"/>
              </a:rPr>
              <a:t>• H5 Outliers: </a:t>
            </a:r>
            <a:r>
              <a:rPr sz="900" b="1" i="0">
                <a:solidFill>
                  <a:srgbClr val="10955E"/>
                </a:solidFill>
                <a:latin typeface="Calibri"/>
              </a:rPr>
              <a:t>⚡ Isolation Forest</a:t>
            </a:r>
          </a:p>
        </p:txBody>
      </p:sp>
      <p:sp>
        <p:nvSpPr>
          <p:cNvPr id="17415" name="Right Arrow 17414"/>
          <p:cNvSpPr/>
          <p:nvPr/>
        </p:nvSpPr>
        <p:spPr>
          <a:xfrm>
            <a:off x="8924544" y="2331720"/>
            <a:ext cx="256032" cy="182880"/>
          </a:xfrm>
          <a:prstGeom prst="rightArrow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9253728" y="1188720"/>
            <a:ext cx="2560320" cy="2468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9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100" b="1" i="0">
                <a:solidFill>
                  <a:srgbClr val="10955E"/>
                </a:solidFill>
                <a:latin typeface="Calibri"/>
              </a:rPr>
              <a:t>STAGE 4: ASSESS &amp; FIX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B2545"/>
                </a:solidFill>
                <a:latin typeface="Calibri"/>
              </a:rPr>
              <a:t>• Rule Engine: </a:t>
            </a:r>
            <a:r>
              <a:rPr sz="900" b="0" i="0">
                <a:solidFill>
                  <a:srgbClr val="334155"/>
                </a:solidFill>
                <a:latin typeface="Calibri"/>
              </a:rPr>
              <a:t>NIST SP 800-77 / RFC 8247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B2545"/>
                </a:solidFill>
                <a:latin typeface="Calibri"/>
              </a:rPr>
              <a:t>• Dual Scores: </a:t>
            </a:r>
            <a:r>
              <a:rPr sz="900" b="0" i="0">
                <a:solidFill>
                  <a:srgbClr val="334155"/>
                </a:solidFill>
                <a:latin typeface="Calibri"/>
              </a:rPr>
              <a:t>Posture &amp; Risk (0-100)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B2545"/>
                </a:solidFill>
                <a:latin typeface="Calibri"/>
              </a:rPr>
              <a:t>• Fix Engine: </a:t>
            </a:r>
            <a:r>
              <a:rPr sz="900" b="0" i="0">
                <a:solidFill>
                  <a:srgbClr val="334155"/>
                </a:solidFill>
                <a:latin typeface="Calibri"/>
              </a:rPr>
              <a:t>1-Click Cisco, Fortinet, swanctl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B2545"/>
                </a:solidFill>
                <a:latin typeface="Calibri"/>
              </a:rPr>
              <a:t>• Output: </a:t>
            </a:r>
            <a:r>
              <a:rPr sz="900" b="1" i="0">
                <a:solidFill>
                  <a:srgbClr val="10955E"/>
                </a:solidFill>
                <a:latin typeface="Calibri"/>
              </a:rPr>
              <a:t>⚡ PDF, SARIF &amp; SHA-256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65760" y="3840480"/>
            <a:ext cx="5440680" cy="233172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/>
            <a:r>
              <a:rPr sz="1150" b="1" i="0">
                <a:solidFill>
                  <a:srgbClr val="1E3A8A"/>
                </a:solidFill>
                <a:latin typeface="Calibri"/>
              </a:rPr>
              <a:t>TECHNOLOGIES &amp; ARCHITECTURAL STACK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B2545"/>
                </a:solidFill>
                <a:latin typeface="Calibri"/>
              </a:rPr>
              <a:t>• Packet Dissection:</a:t>
            </a:r>
            <a:r>
              <a:rPr sz="900" b="0" i="0">
                <a:solidFill>
                  <a:srgbClr val="334155"/>
                </a:solidFill>
                <a:latin typeface="Calibri"/>
              </a:rPr>
              <a:t> Python 3.11+, Scapy, tshark/dpkt, eBPF stream splitters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B2545"/>
                </a:solidFill>
                <a:latin typeface="Calibri"/>
              </a:rPr>
              <a:t>• AI / Machine Learning:</a:t>
            </a:r>
            <a:r>
              <a:rPr sz="900" b="0" i="0">
                <a:solidFill>
                  <a:srgbClr val="334155"/>
                </a:solidFill>
                <a:latin typeface="Calibri"/>
              </a:rPr>
              <a:t> scikit-learn, XGBoost, Isolation Forest, SHAP explainability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B2545"/>
                </a:solidFill>
                <a:latin typeface="Calibri"/>
              </a:rPr>
              <a:t>• Testbed Lab Factory:</a:t>
            </a:r>
            <a:r>
              <a:rPr sz="900" b="0" i="0">
                <a:solidFill>
                  <a:srgbClr val="334155"/>
                </a:solidFill>
                <a:latin typeface="Calibri"/>
              </a:rPr>
              <a:t> Docker-Compose, strongSwan 5.9+, iperf3, SIPp (VoIP), ffmpeg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B2545"/>
                </a:solidFill>
                <a:latin typeface="Calibri"/>
              </a:rPr>
              <a:t>• Backend &amp; Remediation:</a:t>
            </a:r>
            <a:r>
              <a:rPr sz="900" b="0" i="0">
                <a:solidFill>
                  <a:srgbClr val="334155"/>
                </a:solidFill>
                <a:latin typeface="Calibri"/>
              </a:rPr>
              <a:t> FastAPI, SQLite / PostgreSQL, AST Multi-Vendor Fix Engine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B2545"/>
                </a:solidFill>
                <a:latin typeface="Calibri"/>
              </a:rPr>
              <a:t>• Frontend &amp; Ecosystem:</a:t>
            </a:r>
            <a:r>
              <a:rPr sz="900" b="0" i="0">
                <a:solidFill>
                  <a:srgbClr val="334155"/>
                </a:solidFill>
                <a:latin typeface="Calibri"/>
              </a:rPr>
              <a:t> React 18 Web Dashboard + Expo Mobile SecOps Companion App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989320" y="3840480"/>
            <a:ext cx="5833872" cy="233172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109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/>
            <a:r>
              <a:rPr sz="1150" b="1" i="0">
                <a:solidFill>
                  <a:srgbClr val="10955E"/>
                </a:solidFill>
                <a:latin typeface="Calibri"/>
              </a:rPr>
              <a:t>STRICT 3-TIER EVIDENCE PROVENANCE MODEL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B2545"/>
                </a:solidFill>
                <a:latin typeface="Calibri"/>
              </a:rPr>
              <a:t>✓ DIRECT (High Conf):</a:t>
            </a:r>
            <a:r>
              <a:rPr sz="900" b="0" i="0">
                <a:solidFill>
                  <a:srgbClr val="334155"/>
                </a:solidFill>
                <a:latin typeface="Calibri"/>
              </a:rPr>
              <a:t> IKE version, offered/accepted ciphers, DH group, Vendor ID, NAT-T — extracted verbatim from cleartext wire.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B2545"/>
                </a:solidFill>
                <a:latin typeface="Calibri"/>
              </a:rPr>
              <a:t>~ INFERRED (Calibrated):</a:t>
            </a:r>
            <a:r>
              <a:rPr sz="900" b="0" i="0">
                <a:solidFill>
                  <a:srgbClr val="334155"/>
                </a:solidFill>
                <a:latin typeface="Calibri"/>
              </a:rPr>
              <a:t> Flow category (VoIP, Web, Bulk, Video), ESP crypto profile — derived from timing &amp; size distributions with zero decryption.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B2545"/>
                </a:solidFill>
                <a:latin typeface="Calibri"/>
              </a:rPr>
              <a:t>? UNKNOWN (Never Guess):</a:t>
            </a:r>
            <a:r>
              <a:rPr sz="900" b="0" i="0">
                <a:solidFill>
                  <a:srgbClr val="334155"/>
                </a:solidFill>
                <a:latin typeface="Calibri"/>
              </a:rPr>
              <a:t> Post-INIT IKEv2 secrets, CHILD_SA PFS without rekey, Raw PSK strings — strictly flagged to eliminate false claims.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B2545"/>
                </a:solidFill>
                <a:latin typeface="Calibri"/>
              </a:rPr>
              <a:t>Team
Praxis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43000"/>
            <a:ext cx="5303520" cy="5029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1300" b="1" i="0">
                <a:solidFill>
                  <a:srgbClr val="1E3A8A"/>
                </a:solidFill>
                <a:latin typeface="Calibri"/>
              </a:rPr>
              <a:t>FEASIBILITY &amp; PRACTICAL VIABILITY</a:t>
            </a:r>
          </a:p>
          <a:p>
            <a:pPr>
              <a:spcBef>
                <a:spcPts val="600"/>
              </a:spcBef>
            </a:pPr>
            <a:r>
              <a:rPr sz="1050" b="1" i="0">
                <a:solidFill>
                  <a:srgbClr val="0B2545"/>
                </a:solidFill>
                <a:latin typeface="Calibri"/>
              </a:rPr>
              <a:t>• Lightweight &amp; Low Footprint: </a:t>
            </a:r>
            <a:r>
              <a:rPr sz="1050" b="0" i="0">
                <a:solidFill>
                  <a:srgbClr val="334155"/>
                </a:solidFill>
                <a:latin typeface="Calibri"/>
              </a:rPr>
              <a:t>Runs on standard commodity laptops or edge servers without requiring expensive GPU infrastructure.</a:t>
            </a:r>
          </a:p>
          <a:p>
            <a:pPr>
              <a:spcBef>
                <a:spcPts val="600"/>
              </a:spcBef>
            </a:pPr>
            <a:r>
              <a:rPr sz="1050" b="1" i="0">
                <a:solidFill>
                  <a:srgbClr val="0B2545"/>
                </a:solidFill>
                <a:latin typeface="Calibri"/>
              </a:rPr>
              <a:t>• High-Throughput Streaming: </a:t>
            </a:r>
            <a:r>
              <a:rPr sz="1050" b="0" i="0">
                <a:solidFill>
                  <a:srgbClr val="334155"/>
                </a:solidFill>
                <a:latin typeface="Calibri"/>
              </a:rPr>
              <a:t>Processes large enterprise captures (&lt;2 min for 100MB PCAP; &lt;5 sec for router config files).</a:t>
            </a:r>
          </a:p>
          <a:p>
            <a:pPr>
              <a:spcBef>
                <a:spcPts val="600"/>
              </a:spcBef>
            </a:pPr>
            <a:r>
              <a:rPr sz="1050" b="1" i="0">
                <a:solidFill>
                  <a:srgbClr val="0B2545"/>
                </a:solidFill>
                <a:latin typeface="Calibri"/>
              </a:rPr>
              <a:t>• 100% Air-Gapped Operation: </a:t>
            </a:r>
            <a:r>
              <a:rPr sz="1050" b="0" i="0">
                <a:solidFill>
                  <a:srgbClr val="334155"/>
                </a:solidFill>
                <a:latin typeface="Calibri"/>
              </a:rPr>
              <a:t>Completely self-contained with zero internet egress required; ideal for defense and classified environments.</a:t>
            </a:r>
          </a:p>
          <a:p>
            <a:pPr>
              <a:spcBef>
                <a:spcPts val="600"/>
              </a:spcBef>
            </a:pPr>
            <a:r>
              <a:rPr sz="1050" b="1" i="0">
                <a:solidFill>
                  <a:srgbClr val="0B2545"/>
                </a:solidFill>
                <a:latin typeface="Calibri"/>
              </a:rPr>
              <a:t>• Zero Performance Overhead: </a:t>
            </a:r>
            <a:r>
              <a:rPr sz="1050" b="0" i="0">
                <a:solidFill>
                  <a:srgbClr val="334155"/>
                </a:solidFill>
                <a:latin typeface="Calibri"/>
              </a:rPr>
              <a:t>Operates 100% passively via network taps or span ports with zero latency impact on active VPN routers.</a:t>
            </a:r>
          </a:p>
          <a:p>
            <a:pPr>
              <a:spcBef>
                <a:spcPts val="600"/>
              </a:spcBef>
            </a:pPr>
            <a:r>
              <a:rPr sz="1050" b="1" i="0">
                <a:solidFill>
                  <a:srgbClr val="0B2545"/>
                </a:solidFill>
                <a:latin typeface="Calibri"/>
              </a:rPr>
              <a:t>• Multi-Vendor Interoperability: </a:t>
            </a:r>
            <a:r>
              <a:rPr sz="1050" b="0" i="0">
                <a:solidFill>
                  <a:srgbClr val="334155"/>
                </a:solidFill>
                <a:latin typeface="Calibri"/>
              </a:rPr>
              <a:t>Standardized dissector engine supports Cisco, Fortinet, strongSwan, and cloud VPN gateways.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852160" y="1143000"/>
            <a:ext cx="5971032" cy="5029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1300" b="1" i="0">
                <a:solidFill>
                  <a:srgbClr val="D97706"/>
                </a:solidFill>
                <a:latin typeface="Calibri"/>
              </a:rPr>
              <a:t>CHALLENGES &amp; EXACT MITIGATIONS</a:t>
            </a:r>
          </a:p>
          <a:p>
            <a:pPr>
              <a:spcBef>
                <a:spcPts val="600"/>
              </a:spcBef>
            </a:pPr>
            <a:r>
              <a:rPr sz="1050" b="1" i="0">
                <a:solidFill>
                  <a:srgbClr val="DC2626"/>
                </a:solidFill>
                <a:latin typeface="Calibri"/>
              </a:rPr>
              <a:t>▲ No Open Labeled Datasets: </a:t>
            </a:r>
            <a:r>
              <a:rPr sz="1050" b="0" i="0">
                <a:solidFill>
                  <a:srgbClr val="334155"/>
                </a:solidFill>
                <a:latin typeface="Calibri"/>
              </a:rPr>
              <a:t>Our M1 Auto Testbed acts as a dataset factory, generating 12+ matrixed scenarios across ciphers, DH groups, and traffic types.</a:t>
            </a:r>
          </a:p>
          <a:p>
            <a:pPr>
              <a:spcBef>
                <a:spcPts val="600"/>
              </a:spcBef>
            </a:pPr>
            <a:r>
              <a:rPr sz="1050" b="1" i="0">
                <a:solidFill>
                  <a:srgbClr val="DC2626"/>
                </a:solidFill>
                <a:latin typeface="Calibri"/>
              </a:rPr>
              <a:t>▲ Encrypted ESP Opacity: </a:t>
            </a:r>
            <a:r>
              <a:rPr sz="1050" b="0" i="0">
                <a:solidFill>
                  <a:srgbClr val="334155"/>
                </a:solidFill>
                <a:latin typeface="Calibri"/>
              </a:rPr>
              <a:t>Strict 3-Tier Taxonomy extracts IKE parameters directly and infers flow behaviors statistically without overclaiming cipher recovery.</a:t>
            </a:r>
          </a:p>
          <a:p>
            <a:pPr>
              <a:spcBef>
                <a:spcPts val="600"/>
              </a:spcBef>
            </a:pPr>
            <a:r>
              <a:rPr sz="1050" b="1" i="0">
                <a:solidFill>
                  <a:srgbClr val="DC2626"/>
                </a:solidFill>
                <a:latin typeface="Calibri"/>
              </a:rPr>
              <a:t>▲ Traffic Shaping &amp; Jitter: </a:t>
            </a:r>
            <a:r>
              <a:rPr sz="1050" b="0" i="0">
                <a:solidFill>
                  <a:srgbClr val="334155"/>
                </a:solidFill>
                <a:latin typeface="Calibri"/>
              </a:rPr>
              <a:t>Platt &amp; Isotonic calibration outputs explicit Brier confidence scores, ensuring the score remains anchored on direct rules.</a:t>
            </a:r>
          </a:p>
          <a:p>
            <a:pPr>
              <a:spcBef>
                <a:spcPts val="600"/>
              </a:spcBef>
            </a:pPr>
            <a:r>
              <a:rPr sz="1050" b="1" i="0">
                <a:solidFill>
                  <a:srgbClr val="DC2626"/>
                </a:solidFill>
                <a:latin typeface="Calibri"/>
              </a:rPr>
              <a:t>▲ Untrusted PCAP Exploits: </a:t>
            </a:r>
            <a:r>
              <a:rPr sz="1050" b="0" i="0">
                <a:solidFill>
                  <a:srgbClr val="334155"/>
                </a:solidFill>
                <a:latin typeface="Calibri"/>
              </a:rPr>
              <a:t>Parsers run inside sandboxed worker processes with memory and CPU bounds to prevent host compromise.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B2545"/>
                </a:solidFill>
                <a:latin typeface="Calibri"/>
              </a:rPr>
              <a:t>Team
Praxis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43000"/>
            <a:ext cx="5303520" cy="5029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1300" b="1" i="0">
                <a:solidFill>
                  <a:srgbClr val="1E3A8A"/>
                </a:solidFill>
                <a:latin typeface="Calibri"/>
              </a:rPr>
              <a:t>TARGET STAKEHOLDERS IMPACT</a:t>
            </a:r>
          </a:p>
          <a:p>
            <a:pPr>
              <a:spcBef>
                <a:spcPts val="600"/>
              </a:spcBef>
            </a:pPr>
            <a:r>
              <a:rPr sz="1050" b="1" i="0">
                <a:solidFill>
                  <a:srgbClr val="0B2545"/>
                </a:solidFill>
                <a:latin typeface="Calibri"/>
              </a:rPr>
              <a:t>• NTRO &amp; Defense Commands: </a:t>
            </a:r>
            <a:r>
              <a:rPr sz="1050" b="0" i="0">
                <a:solidFill>
                  <a:srgbClr val="334155"/>
                </a:solidFill>
                <a:latin typeface="Calibri"/>
              </a:rPr>
              <a:t>Enables continuous, passive wire-truth audit of sovereign military and strategic VPNs without needing device credentials.</a:t>
            </a:r>
          </a:p>
          <a:p>
            <a:pPr>
              <a:spcBef>
                <a:spcPts val="600"/>
              </a:spcBef>
            </a:pPr>
            <a:r>
              <a:rPr sz="1050" b="1" i="0">
                <a:solidFill>
                  <a:srgbClr val="0B2545"/>
                </a:solidFill>
                <a:latin typeface="Calibri"/>
              </a:rPr>
              <a:t>• CERT-In &amp; Regulators: </a:t>
            </a:r>
            <a:r>
              <a:rPr sz="1050" b="0" i="0">
                <a:solidFill>
                  <a:srgbClr val="334155"/>
                </a:solidFill>
                <a:latin typeface="Calibri"/>
              </a:rPr>
              <a:t>Automates national IPsec compliance inspections with standardized RFC/NIST citations and tamper-evident SHA-256 reports.</a:t>
            </a:r>
          </a:p>
          <a:p>
            <a:pPr>
              <a:spcBef>
                <a:spcPts val="600"/>
              </a:spcBef>
            </a:pPr>
            <a:r>
              <a:rPr sz="1050" b="1" i="0">
                <a:solidFill>
                  <a:srgbClr val="0B2545"/>
                </a:solidFill>
                <a:latin typeface="Calibri"/>
              </a:rPr>
              <a:t>• Critical Telecom Infrastructure: </a:t>
            </a:r>
            <a:r>
              <a:rPr sz="1050" b="0" i="0">
                <a:solidFill>
                  <a:srgbClr val="334155"/>
                </a:solidFill>
                <a:latin typeface="Calibri"/>
              </a:rPr>
              <a:t>Audits thousands of enterprise WAN tunnels in seconds, identifying high-risk legacy suites across multi-tenant backbones.</a:t>
            </a:r>
          </a:p>
          <a:p>
            <a:pPr>
              <a:spcBef>
                <a:spcPts val="600"/>
              </a:spcBef>
            </a:pPr>
            <a:r>
              <a:rPr sz="1050" b="1" i="0">
                <a:solidFill>
                  <a:srgbClr val="0B2545"/>
                </a:solidFill>
                <a:latin typeface="Calibri"/>
              </a:rPr>
              <a:t>• Enterprise SecOps Teams: </a:t>
            </a:r>
            <a:r>
              <a:rPr sz="1050" b="0" i="0">
                <a:solidFill>
                  <a:srgbClr val="334155"/>
                </a:solidFill>
                <a:latin typeface="Calibri"/>
              </a:rPr>
              <a:t>Provides real-time visibility into anomalous tunnels and delivers 1-click remediation scripts to close security gaps.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852160" y="1143000"/>
            <a:ext cx="5971032" cy="5029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9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1300" b="1" i="0">
                <a:solidFill>
                  <a:srgbClr val="10955E"/>
                </a:solidFill>
                <a:latin typeface="Calibri"/>
              </a:rPr>
              <a:t>QUANTIFIABLE BENEFITS &amp; ROI</a:t>
            </a:r>
          </a:p>
          <a:p>
            <a:pPr>
              <a:spcBef>
                <a:spcPts val="600"/>
              </a:spcBef>
            </a:pPr>
            <a:r>
              <a:rPr sz="1050" b="1" i="0">
                <a:solidFill>
                  <a:srgbClr val="0B2545"/>
                </a:solidFill>
                <a:latin typeface="Calibri"/>
              </a:rPr>
              <a:t>• 90%+ Time &amp; Cost Savings: </a:t>
            </a:r>
            <a:r>
              <a:rPr sz="1050" b="0" i="0">
                <a:solidFill>
                  <a:srgbClr val="334155"/>
                </a:solidFill>
                <a:latin typeface="Calibri"/>
              </a:rPr>
              <a:t>Reduces audit cycles from 3–5 manual engineering days to &lt;2 minutes per gateway, saving significant operational expenditure.</a:t>
            </a:r>
          </a:p>
          <a:p>
            <a:pPr>
              <a:spcBef>
                <a:spcPts val="600"/>
              </a:spcBef>
            </a:pPr>
            <a:r>
              <a:rPr sz="1050" b="1" i="0">
                <a:solidFill>
                  <a:srgbClr val="0B2545"/>
                </a:solidFill>
                <a:latin typeface="Calibri"/>
              </a:rPr>
              <a:t>• Zero-Decryption Privacy: </a:t>
            </a:r>
            <a:r>
              <a:rPr sz="1050" b="0" i="0">
                <a:solidFill>
                  <a:srgbClr val="334155"/>
                </a:solidFill>
                <a:latin typeface="Calibri"/>
              </a:rPr>
              <a:t>Delivers behavioral intelligence (VoIP, Web, Video, Bulk) purely from metadata without decrypting citizen or enterprise payloads.</a:t>
            </a:r>
          </a:p>
          <a:p>
            <a:pPr>
              <a:spcBef>
                <a:spcPts val="600"/>
              </a:spcBef>
            </a:pPr>
            <a:r>
              <a:rPr sz="1050" b="1" i="0">
                <a:solidFill>
                  <a:srgbClr val="0B2545"/>
                </a:solidFill>
                <a:latin typeface="Calibri"/>
              </a:rPr>
              <a:t>• Elimination of Blind Spots: </a:t>
            </a:r>
            <a:r>
              <a:rPr sz="1050" b="0" i="0">
                <a:solidFill>
                  <a:srgbClr val="334155"/>
                </a:solidFill>
                <a:latin typeface="Calibri"/>
              </a:rPr>
              <a:t>Detects hidden legacy ciphers (3DES, MD5, SHA-1, DH &lt;14) and IKEv1 Aggressive Mode leaks before attackers exploit them.</a:t>
            </a:r>
          </a:p>
          <a:p>
            <a:pPr>
              <a:spcBef>
                <a:spcPts val="600"/>
              </a:spcBef>
            </a:pPr>
            <a:r>
              <a:rPr sz="1050" b="1" i="0">
                <a:solidFill>
                  <a:srgbClr val="0B2545"/>
                </a:solidFill>
                <a:latin typeface="Calibri"/>
              </a:rPr>
              <a:t>• Post-Quantum Readiness (PQC): </a:t>
            </a:r>
            <a:r>
              <a:rPr sz="1050" b="0" i="0">
                <a:solidFill>
                  <a:srgbClr val="334155"/>
                </a:solidFill>
                <a:latin typeface="Calibri"/>
              </a:rPr>
              <a:t>Evaluates classical DH groups against RFC 9370 ML-KEM pathways, defending against 'Harvest Now, Decrypt Later' quantum attacks.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B2545"/>
                </a:solidFill>
                <a:latin typeface="Calibri"/>
              </a:rPr>
              <a:t>Team
Praxis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43000"/>
            <a:ext cx="5303520" cy="3749039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/>
          <a:lstStyle/>
          <a:p>
            <a:pPr algn="ctr"/>
            <a:r>
              <a:rPr sz="1200" b="1" i="0">
                <a:solidFill>
                  <a:srgbClr val="1E3A8A"/>
                </a:solidFill>
                <a:latin typeface="Calibri"/>
              </a:rPr>
              <a:t>AUTHORITATIVE STANDARDS &amp; RFCS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B2545"/>
                </a:solidFill>
                <a:latin typeface="Calibri"/>
              </a:rPr>
              <a:t>• RFC 7296 / RFC 4301 / RFC 4303: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IKEv2 Protocol, Security Architecture for IP, and Encapsulating Security Payload (ESP).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B2545"/>
                </a:solidFill>
                <a:latin typeface="Calibri"/>
              </a:rPr>
              <a:t>• RFC 8247 &amp; RFC 8221: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Current Cryptographic Requirements for IKEv2 and ESP (Deprecation of 3DES, DES, MD5, SHA-1).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B2545"/>
                </a:solidFill>
                <a:latin typeface="Calibri"/>
              </a:rPr>
              <a:t>• IETF draft-ietf-ipsecme-ikev1-to-historic: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Formal transition of IKEv1 to Historic status.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B2545"/>
                </a:solidFill>
                <a:latin typeface="Calibri"/>
              </a:rPr>
              <a:t>• NIST SP 800-77 Rev. 1 &amp; NIST SP 800-131A: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Mandates IKEv2, DH groups &gt;=14, and AES-GCM AEAD ciphers.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B2545"/>
                </a:solidFill>
                <a:latin typeface="Calibri"/>
              </a:rPr>
              <a:t>• RFC 9370 &amp; NSA CNSA 2.0: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Post-Quantum Hybrid Key Exchange (ML-KEM / Kyber transition).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852160" y="1143000"/>
            <a:ext cx="5971032" cy="3749039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9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/>
          <a:lstStyle/>
          <a:p>
            <a:pPr algn="ctr"/>
            <a:r>
              <a:rPr sz="1200" b="1" i="0">
                <a:solidFill>
                  <a:srgbClr val="10955E"/>
                </a:solidFill>
                <a:latin typeface="Calibri"/>
              </a:rPr>
              <a:t>ACADEMIC FOUNDATIONS &amp; PRIOR ART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B2545"/>
                </a:solidFill>
                <a:latin typeface="Calibri"/>
              </a:rPr>
              <a:t>• Lundberg &amp; Lee (SHAP Explainability):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Feature attribution explaining model flow classifications (timing periodicity, burst symmetry).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B2545"/>
                </a:solidFill>
                <a:latin typeface="Calibri"/>
              </a:rPr>
              <a:t>• Liu et al. (Isolation Forest):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High-dimensional outlier isolation for detecting proposal storms and sequence anomalies.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B2545"/>
                </a:solidFill>
                <a:latin typeface="Calibri"/>
              </a:rPr>
              <a:t>• Guo et al. (Model Calibration):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Isotonic regression &amp; Platt scaling to guarantee well-calibrated confidence scores.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B2545"/>
                </a:solidFill>
                <a:latin typeface="Calibri"/>
              </a:rPr>
              <a:t>• Wireshark &amp; Zeek Benchmarks: </a:t>
            </a:r>
            <a:r>
              <a:rPr sz="950" b="0" i="0">
                <a:solidFill>
                  <a:srgbClr val="334155"/>
                </a:solidFill>
                <a:latin typeface="Calibri"/>
              </a:rPr>
              <a:t>Manual packet inspection tools; IPsight extends with automated scoring and 1-click multi-vendor fixes.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65760" y="4983480"/>
            <a:ext cx="11457432" cy="12344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sz="1050" b="1" i="0">
                <a:solidFill>
                  <a:srgbClr val="1E3A8A"/>
                </a:solidFill>
                <a:latin typeface="Calibri"/>
              </a:rPr>
              <a:t>CORE NOVELTY CLAIM: </a:t>
            </a:r>
            <a:r>
              <a:rPr sz="1000" b="1" i="0">
                <a:solidFill>
                  <a:srgbClr val="0F172A"/>
                </a:solidFill>
                <a:latin typeface="Calibri"/>
              </a:rPr>
              <a:t>IPsight does not attempt to break tunnels. It inspects wire truth, detects downgrade risks, classifies encrypted flows with calibrated confidence, and auto-generates multi-vendor fixes.</a:t>
            </a:r>
          </a:p>
          <a:p>
            <a:pPr>
              <a:spcBef>
                <a:spcPts val="300"/>
              </a:spcBef>
            </a:pPr>
            <a:r>
              <a:rPr sz="950" b="1" i="0">
                <a:solidFill>
                  <a:srgbClr val="10955E"/>
                </a:solidFill>
                <a:latin typeface="Calibri"/>
              </a:rPr>
              <a:t>✓ M1 Auto Testbed Factory  |  ✓ 5-Head Calibrated AI Engine  |  ✓ Web Dashboard &amp; Mobile App  |  ✓ Automated Cisco/Fortinet Fixes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7490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 S</cp:lastModifiedBy>
  <cp:revision>148</cp:revision>
  <dcterms:created xsi:type="dcterms:W3CDTF">2013-12-12T18:46:50Z</dcterms:created>
  <dcterms:modified xsi:type="dcterms:W3CDTF">2026-08-15T05:58:06Z</dcterms:modified>
  <cp:category/>
</cp:coreProperties>
</file>