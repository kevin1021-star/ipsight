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Problem Statement ID – </a:t>
            </a:r>
            <a:r>
              <a:rPr sz="1600" b="0">
                <a:solidFill>
                  <a:srgbClr val="1B365D"/>
                </a:solidFill>
                <a:latin typeface="Arial"/>
              </a:rPr>
              <a:t>SIH26160</a:t>
            </a:r>
            <a:endParaRPr lang="en-US" dirty="0"/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Problem Statement Title- </a:t>
            </a:r>
            <a:r>
              <a:rPr sz="1600" b="0">
                <a:solidFill>
                  <a:srgbClr val="1B365D"/>
                </a:solidFill>
                <a:latin typeface="Arial"/>
              </a:rPr>
              <a:t>AI-Powered IPsec VPN Protocol Analyzer and Security Assessment Framework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Theme- </a:t>
            </a:r>
            <a:r>
              <a:rPr sz="1600" b="0">
                <a:solidFill>
                  <a:srgbClr val="1B365D"/>
                </a:solidFill>
                <a:latin typeface="Arial"/>
              </a:rPr>
              <a:t>Blockchain &amp; Cybersecurity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PS Category- </a:t>
            </a:r>
            <a:r>
              <a:rPr sz="1600" b="0">
                <a:solidFill>
                  <a:srgbClr val="1B365D"/>
                </a:solidFill>
                <a:latin typeface="Arial"/>
              </a:rPr>
              <a:t>Software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Team ID- </a:t>
            </a:r>
            <a:r>
              <a:rPr sz="1600" b="0">
                <a:solidFill>
                  <a:srgbClr val="1B365D"/>
                </a:solidFill>
                <a:latin typeface="Arial"/>
              </a:rPr>
              <a:t>132859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Team Name (Registered on portal) – </a:t>
            </a:r>
            <a:r>
              <a:rPr sz="1600" b="0">
                <a:solidFill>
                  <a:srgbClr val="1B365D"/>
                </a:solidFill>
                <a:latin typeface="Arial"/>
              </a:rPr>
              <a:t>Praxis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1680000" y="900000"/>
            <a:ext cx="7900000" cy="3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TRINETRA-SENTINEL  —  Neuro-Symbolic &amp; Epistemic IPsec Assessment Engine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00000" y="1240000"/>
            <a:ext cx="11780000" cy="26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200000" y="1540000"/>
            <a:ext cx="5750000" cy="13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90000" y="1590000"/>
            <a:ext cx="557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290000" y="1860000"/>
            <a:ext cx="5570000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• Passive dual-plane reader (IKE + ESP) — zero keys, never decrypts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Rebuilds FULL offer-set lattice to detect silent downgrade (CNR)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Epistemic Side-Channel: infers ESP cipher family &amp; Tunnel/Transport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Output: signed Cryptographic Posture Certificate (CPC) + AST fix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00000" y="2920000"/>
            <a:ext cx="5750000" cy="13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90000" y="2970000"/>
            <a:ext cx="557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90000" y="3240000"/>
            <a:ext cx="5570000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• Flags weak DH 2/5, MD5/SHA-1, Sweet32 64-bit &amp; Aggressive Mode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Audits wire handshake vs NIST / BSI / CNSA 2.0 / RFC 8247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Detects downgrade: flags when chosen SA &lt; peer offer intersection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Profiles opaque ESP: entropy + padding residue = mode &amp; cipher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00000" y="4300000"/>
            <a:ext cx="5750000" cy="13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290000" y="4350000"/>
            <a:ext cx="557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90000" y="4620000"/>
            <a:ext cx="5570000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• New metrics: CNR (regret), PECF (ESP cipher/mode), QRE (quantum)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Beyond old tools: proves both sides could do better; audits wire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Patent wedge: zero-key ESP fingerprinting + Z3 SMT formal proof</a:t>
            </a:r>
          </a:p>
          <a:p>
            <a:r>
              <a:rPr sz="1050" b="0">
                <a:solidFill>
                  <a:srgbClr val="1F2937"/>
                </a:solidFill>
                <a:latin typeface="Arial"/>
              </a:rPr>
              <a:t>• Multi-vendor AST engine: Cisco, Fortinet, StrongSwan &amp; Ansible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080000" y="1540000"/>
            <a:ext cx="5900000" cy="408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200000" y="1580000"/>
            <a:ext cx="56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How TRINETRA thinks  (mind map)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8050000" y="3180000"/>
            <a:ext cx="1960000" cy="720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TRINETRA
SENTINEL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250000" y="19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
IKEv1/v2 lattice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9850000" y="19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DATA
ESP side-channel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8050000" y="196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OUTPUT
CPC + AST pack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250000" y="45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POLICY
NIST/BSI/CNSA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9850000" y="45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 SCORES
CNR·PECF·SMT·QRE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6280000" y="2680000"/>
            <a:ext cx="16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572"/>
                </a:solidFill>
                <a:latin typeface="Arial"/>
              </a:rPr>
              <a:t>CNR  regret</a:t>
            </a:r>
          </a:p>
          <a:p>
            <a:r>
              <a:rPr sz="1050" b="0">
                <a:solidFill>
                  <a:srgbClr val="5B6572"/>
                </a:solidFill>
                <a:latin typeface="Arial"/>
              </a:rPr>
              <a:t>PECF  ESP cipher/mode</a:t>
            </a:r>
          </a:p>
          <a:p>
            <a:r>
              <a:rPr sz="1050" b="0">
                <a:solidFill>
                  <a:srgbClr val="5B6572"/>
                </a:solidFill>
                <a:latin typeface="Arial"/>
              </a:rPr>
              <a:t>SMT  zero-hallucination</a:t>
            </a:r>
          </a:p>
          <a:p>
            <a:r>
              <a:rPr sz="1050" b="0">
                <a:solidFill>
                  <a:srgbClr val="5B6572"/>
                </a:solidFill>
                <a:latin typeface="Arial"/>
              </a:rPr>
              <a:t>QRE  quantum life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Technologies to be used   •   Methodology and process for implementation (flow chart)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Parse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Python + Rust
eBPF / IKE decoder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17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Graph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17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Policy KG
Neo4j / RFC Lattice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4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4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Z3 SMT Solver
Neuro-Symbolic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1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1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Air-gap AST
Local generator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08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8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CPC PDF / JSON
STIX • SIEM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005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05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0">
                <a:solidFill>
                  <a:srgbClr val="1F2937"/>
                </a:solidFill>
                <a:latin typeface="Arial"/>
              </a:rPr>
              <a:t>PCAP / TAP
Air-gapped appliance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00000" y="2100000"/>
            <a:ext cx="117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Working process  —  4 stages (one glance)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20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  INGEST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0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SPAN / TAP / PCAP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UDP 500 • 4500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ESP Protocol 50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18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  LATTICE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18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Decode IKEv1 / v2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Full Offer Lattice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ESP Entropy &amp; Mode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6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  SCORE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6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Z3 SMT Verification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Intersection vs selected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CNR • PECF • SMT • QRE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14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  ACT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14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Explainable verdict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Signed CPC Cert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Cisco/Fortinet/Ansible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2780000" y="3000000"/>
            <a:ext cx="360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ight Arrow 17433"/>
          <p:cNvSpPr/>
          <p:nvPr/>
        </p:nvSpPr>
        <p:spPr>
          <a:xfrm>
            <a:off x="5760000" y="3000000"/>
            <a:ext cx="360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ight Arrow 17434"/>
          <p:cNvSpPr/>
          <p:nvPr/>
        </p:nvSpPr>
        <p:spPr>
          <a:xfrm>
            <a:off x="8740000" y="3000000"/>
            <a:ext cx="360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200000" y="3960000"/>
            <a:ext cx="117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Score logic (no payload crypto)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0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Selected &lt; offers' intersection  →  HIGH CNR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18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ESP Modulo Residue + Min Len  →  Mode &amp; Cipher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6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Child / rekey weaker than IKE SA  →  SSD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14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Classical DH only, no hybrid KEM  →  QRE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200000" y="4980000"/>
            <a:ext cx="11780000" cy="42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000" b="0">
                <a:solidFill>
                  <a:srgbClr val="1F2937"/>
                </a:solidFill>
                <a:latin typeface="Arial"/>
              </a:rPr>
              <a:t>Demo path: lab PCAPs (Legacy 3DES, Opaque ESP, PQC Hybrid)  →  SMT Engine  →  Signed CPC  →  Cisco/Fortinet/StrongSwan fix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of the feasibility of the idea   •   Potential challenges and risks   •   Strategies for overcoming these challenges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3720000" cy="400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280000"/>
            <a:ext cx="3720000" cy="3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FEASIBILITY  —  why this ships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20000" y="1680000"/>
            <a:ext cx="3480000" cy="3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Working prototype complete: parser, ESP analyzer, Z3 &amp; CLI tested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Passive ESP inference: derives mode &amp; cipher with zero keys needed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Standards-based: encodes NIST SP 800-77r1, BSI, CNSA 2.0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Line-rate ingest: eBPF/XDP zero-copy handles 10Gbps+ streams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Air-gap fits NTRO — 100% on-prem, no cloud LLM, zero exfil</a:t>
            </a:r>
          </a:p>
          <a:p>
            <a:r>
              <a:rPr sz="1150" b="1">
                <a:solidFill>
                  <a:srgbClr val="548235"/>
                </a:solidFill>
                <a:latin typeface="Arial"/>
              </a:rPr>
              <a:t>• We judge SELECTION &amp; WIRE TRUTH, not secrets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040000" y="1280000"/>
            <a:ext cx="3900000" cy="40000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040000" y="1280000"/>
            <a:ext cx="3900000" cy="32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RISKS  —  mind map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5160000" y="2880000"/>
            <a:ext cx="1660000" cy="660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60000" y="168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Encrypted later IKE
(after SA is up)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20000" y="168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Vendor / NAT-T
oddities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60000" y="432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False CNR /
black-box AI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20000" y="432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Classified PCAPs
&amp; air-gap ops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060000" y="1280000"/>
            <a:ext cx="3920000" cy="4000000"/>
          </a:xfrm>
          <a:prstGeom prst="roundRect">
            <a:avLst>
              <a:gd name="adj" fmla="val 8000"/>
            </a:avLst>
          </a:prstGeom>
          <a:solidFill>
            <a:srgbClr val="EA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60000" y="1280000"/>
            <a:ext cx="3920000" cy="3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OVERCOME  —  if  →  then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200000" y="16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320000" y="17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48235"/>
                </a:solidFill>
                <a:latin typeface="Arial"/>
              </a:rPr>
              <a:t>Later IKE opaque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320000" y="19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PECF evaluates ESP padding modulo &amp; entropy to infer cipher &amp; mode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200000" y="23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320000" y="24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48235"/>
                </a:solidFill>
                <a:latin typeface="Arial"/>
              </a:rPr>
              <a:t>Vendor quirks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320000" y="26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Vendor-ID fingerprint → modular dissector pack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200000" y="30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320000" y="31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48235"/>
                </a:solidFill>
                <a:latin typeface="Arial"/>
              </a:rPr>
              <a:t>False CNR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320000" y="33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Deterministic Z3 SMT logic replaces fuzzy AI; zero false positives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200000" y="37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320000" y="38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48235"/>
                </a:solidFill>
                <a:latin typeface="Arial"/>
              </a:rPr>
              <a:t>Air-gap / no exfil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320000" y="40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On-prem appliance + local offline SLM &amp; USB policy updates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200000" y="44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320000" y="45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48235"/>
                </a:solidFill>
                <a:latin typeface="Arial"/>
              </a:rPr>
              <a:t>Speed / adoption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320000" y="47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Arial"/>
              </a:rPr>
              <a:t>eBPF/Rust ingest; AST patches auto-deploy to existing routers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Potential impact on the target audience   •   Benefits of the solution (social, economic, environmental, etc.)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NTRO / SOC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Wire-truth of national IPsec — not CLI screenshots; passive zero-touch audit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18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CERT-In / Auditor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18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Signed CPC with exact RFC / NIST / CNSA clause violation IDs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6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Ministry / Bank / PSU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6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Mesh heat-map: detects silent first-match downgrade across thousands of WAN tunnels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14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OEM / Integrator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14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Co-sell posture &amp; migration SKU on existing Cisco, Fortinet &amp; AWS gateways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00000" y="2340000"/>
            <a:ext cx="117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Benefit flow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0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Weak SA
chosen on wire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18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TRINETRA
CPC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16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Social
Trusted gov links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4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Economic
Less breach + audit hrs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2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Strategic
PQC runway (QRE)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1010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Environment
Fix policy, keep boxes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204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ight Arrow 17427"/>
          <p:cNvSpPr/>
          <p:nvPr/>
        </p:nvSpPr>
        <p:spPr>
          <a:xfrm>
            <a:off x="402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ight Arrow 17428"/>
          <p:cNvSpPr/>
          <p:nvPr/>
        </p:nvSpPr>
        <p:spPr>
          <a:xfrm>
            <a:off x="600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ight Arrow 17429"/>
          <p:cNvSpPr/>
          <p:nvPr/>
        </p:nvSpPr>
        <p:spPr>
          <a:xfrm>
            <a:off x="798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ight Arrow 17430"/>
          <p:cNvSpPr/>
          <p:nvPr/>
        </p:nvSpPr>
        <p:spPr>
          <a:xfrm>
            <a:off x="996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200000" y="3340000"/>
            <a:ext cx="117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Before  vs  After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00000" y="3560000"/>
            <a:ext cx="5750000" cy="1820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200000" y="3560000"/>
            <a:ext cx="5750000" cy="30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40000" y="3960000"/>
            <a:ext cx="54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• Decode packets, no automated posture score</a:t>
            </a:r>
          </a:p>
          <a:p>
            <a:r>
              <a:rPr sz="1200" b="0">
                <a:solidFill>
                  <a:srgbClr val="1F2937"/>
                </a:solidFill>
                <a:latin typeface="Arial"/>
              </a:rPr>
              <a:t>• Flag MD5 as simple lookup table; blind to ESP cipher/mode</a:t>
            </a:r>
          </a:p>
          <a:p>
            <a:r>
              <a:rPr sz="1200" b="0">
                <a:solidFill>
                  <a:srgbClr val="1F2937"/>
                </a:solidFill>
                <a:latin typeface="Arial"/>
              </a:rPr>
              <a:t>• Config ≠ what the wire actually selected</a:t>
            </a:r>
          </a:p>
          <a:p>
            <a:r>
              <a:rPr sz="1200" b="0">
                <a:solidFill>
                  <a:srgbClr val="1F2937"/>
                </a:solidFill>
                <a:latin typeface="Arial"/>
              </a:rPr>
              <a:t>• Screenshot PDF for auditors; manual error-prone fixes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00000" y="3560000"/>
            <a:ext cx="5880000" cy="1820000"/>
          </a:xfrm>
          <a:prstGeom prst="roundRect">
            <a:avLst>
              <a:gd name="adj" fmla="val 8000"/>
            </a:avLst>
          </a:prstGeom>
          <a:solidFill>
            <a:srgbClr val="EA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100000" y="3560000"/>
            <a:ext cx="5880000" cy="30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TRINETRA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260000" y="3960000"/>
            <a:ext cx="556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• Score negotiation regret (CNR) &amp; infer ESP cipher/mode blindly</a:t>
            </a:r>
          </a:p>
          <a:p>
            <a:r>
              <a:rPr sz="1200" b="0">
                <a:solidFill>
                  <a:srgbClr val="1F2937"/>
                </a:solidFill>
                <a:latin typeface="Arial"/>
              </a:rPr>
              <a:t>• Deterministic SMT proofs of compliance (NIST / CNSA 2.0)</a:t>
            </a:r>
          </a:p>
          <a:p>
            <a:r>
              <a:rPr sz="1200" b="0">
                <a:solidFill>
                  <a:srgbClr val="1F2937"/>
                </a:solidFill>
                <a:latin typeface="Arial"/>
              </a:rPr>
              <a:t>• Harvest Now Decrypt Later (HNDL) quantum threat horizon</a:t>
            </a:r>
          </a:p>
          <a:p>
            <a:r>
              <a:rPr sz="1200" b="1">
                <a:solidFill>
                  <a:srgbClr val="548235"/>
                </a:solidFill>
                <a:latin typeface="Arial"/>
              </a:rPr>
              <a:t>• 1 handshake → 4 scores → 1 certificate → 1-click vendor fix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5750000" cy="3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280000"/>
            <a:ext cx="5750000" cy="3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STANDARDS  (policy graph)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0000" y="1660000"/>
            <a:ext cx="5450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NIST SP 800-77 Rev.1 — IPsec VPN guide (deprecates 3DES/SHA-1)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BSI TR-02102-3 — IPsec crypto recommendations (prohibits non-EtM CBC)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NSA CNSA 2.0 — Post-Quantum KEM (ML-KEM / Kyber) mandates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RFC 7296 (IKEv2)    •    RFC 2409 (IKEv1)    •    RFC 4303 (ESP)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RFC 8247 / RFC 8221 — algorithm requirements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RFC 9370 &amp; RFC 9242 — PQC hybrid key exchanges → our QRE score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CERT-In cryptographic &amp; sovereign VPN advisories</a:t>
            </a:r>
          </a:p>
          <a:p>
            <a:r>
              <a:rPr sz="1050" b="1">
                <a:solidFill>
                  <a:srgbClr val="0070C0"/>
                </a:solidFill>
                <a:latin typeface="Arial"/>
              </a:rPr>
              <a:t>csrc.nist.gov  •  datatracker.ietf.org  •  bsi.bund.de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00000" y="1280000"/>
            <a:ext cx="5880000" cy="31800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00000" y="1280000"/>
            <a:ext cx="5880000" cy="3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PRIOR ART WE GO BEYOND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60000" y="1660000"/>
            <a:ext cx="5560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Wireshark / Zeek IPsec — decode only; blind to ESP cipher/mode, no CNR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ike-scan — active probe; NTRO needs 100% PASSIVE inspection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VIAVI Avalanche — performance stress-test, not cryptographic posture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CIS / CLI auditors — inspect static configs, miss wire-level downgrade</a:t>
            </a:r>
          </a:p>
          <a:p>
            <a:r>
              <a:rPr sz="1100" b="0">
                <a:solidFill>
                  <a:srgbClr val="1F2937"/>
                </a:solidFill>
                <a:latin typeface="Arial"/>
              </a:rPr>
              <a:t>• Cisco IKEv1/v2 docs — first-match behaviour (ops)</a:t>
            </a:r>
          </a:p>
          <a:p>
            <a:r>
              <a:rPr sz="1050" b="1">
                <a:solidFill>
                  <a:srgbClr val="C57A1A"/>
                </a:solidFill>
                <a:latin typeface="Arial"/>
              </a:rPr>
              <a:t>zeek.org/2021/04/zeeks-ipsec-protocol-analyzer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00000" y="4560000"/>
            <a:ext cx="11780000" cy="84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NOVELTY CLAIM • Dual-Plane Offer Lattice + ESP Epistemic Fingerprinting (PECF) + Neuro-Symbolic SMT + Signed CPC Certificate</a:t>
            </a:r>
          </a:p>
          <a:p>
            <a:r>
              <a:rPr sz="950" b="0">
                <a:solidFill>
                  <a:srgbClr val="FFFFFF"/>
                </a:solidFill>
                <a:latin typeface="Arial"/>
              </a:rPr>
              <a:t>We do not decrypt tunnels. We prove whether the nation selected the strongest SA it had on the wire, and automate vendor remediation.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 S</cp:lastModifiedBy>
  <cp:revision>148</cp:revision>
  <dcterms:created xsi:type="dcterms:W3CDTF">2013-12-12T18:46:50Z</dcterms:created>
  <dcterms:modified xsi:type="dcterms:W3CDTF">2026-08-15T05:58:06Z</dcterms:modified>
  <cp:category/>
</cp:coreProperties>
</file>