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ID – </a:t>
            </a:r>
            <a:r>
              <a:rPr sz="1600" b="0">
                <a:solidFill>
                  <a:srgbClr val="1B365D"/>
                </a:solidFill>
                <a:latin typeface="Arial"/>
              </a:rPr>
              <a:t>SIH26160</a:t>
            </a:r>
            <a:endParaRPr lang="en-US" dirty="0"/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Problem Statement Title- </a:t>
            </a:r>
            <a:r>
              <a:rPr sz="1600" b="0">
                <a:solidFill>
                  <a:srgbClr val="1B365D"/>
                </a:solidFill>
                <a:latin typeface="Arial"/>
              </a:rPr>
              <a:t>AI-Powered IPsec VPN Protocol Analyzer and Security Assessment Framework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Theme- </a:t>
            </a:r>
            <a:r>
              <a:rPr sz="1600" b="0">
                <a:solidFill>
                  <a:srgbClr val="1B365D"/>
                </a:solidFill>
                <a:latin typeface="Arial"/>
              </a:rPr>
              <a:t>Blockchain &amp; Cybersecurity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PS Category- </a:t>
            </a:r>
            <a:r>
              <a:rPr sz="1600" b="0">
                <a:solidFill>
                  <a:srgbClr val="1B365D"/>
                </a:solidFill>
                <a:latin typeface="Arial"/>
              </a:rPr>
              <a:t>Software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Team ID- </a:t>
            </a:r>
            <a:r>
              <a:rPr sz="1600" b="0">
                <a:solidFill>
                  <a:srgbClr val="1B365D"/>
                </a:solidFill>
                <a:latin typeface="Arial"/>
              </a:rPr>
              <a:t>132859</a:t>
            </a:r>
          </a:p>
          <a:p>
            <a:pPr algn="l" marL="285750" indent="-285750">
              <a:buFont typeface="Arial"/>
              <a:buChar char="•"/>
              <a:lnSpc>
                <a:spcPct val="160000"/>
              </a:lnSpc>
            </a:pPr>
            <a:r>
              <a:rPr sz="1800" b="1">
                <a:solidFill>
                  <a:srgbClr val="1F2937"/>
                </a:solidFill>
                <a:latin typeface="Arial"/>
              </a:rPr>
              <a:t>Team Name (Registered on portal) – </a:t>
            </a:r>
            <a:r>
              <a:rPr sz="1600" b="0">
                <a:solidFill>
                  <a:srgbClr val="1B365D"/>
                </a:solidFill>
                <a:latin typeface="Arial"/>
              </a:rPr>
              <a:t>Praxis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1680000" y="900000"/>
            <a:ext cx="7900000" cy="3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>
              <a:defRPr b="1"/>
            </a:pPr>
            <a:r>
              <a:t>TRINETRA-SENTINEL — Neuro-Symbolic &amp; Epistemic Side-Channel IPsec Assessment Engine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00000" y="1240000"/>
            <a:ext cx="11780000" cy="26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00000" y="154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290000" y="159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290000" y="186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50"/>
            </a:pPr>
            <a:r>
              <a:t>• Dual-plane passive ingress (PCAP/TAP/eBPF) — audits IKE &amp; encrypted ESP streams without keys</a:t>
            </a:r>
          </a:p>
          <a:p>
            <a:pPr>
              <a:defRPr sz="950"/>
            </a:pPr>
            <a:r>
              <a:t>• Rebuilds FULL offer-set lattice to detect silent downgrade (selected SA vs intersection of offers)</a:t>
            </a:r>
          </a:p>
          <a:p>
            <a:pPr>
              <a:defRPr sz="950"/>
            </a:pPr>
            <a:r>
              <a:t>• Epistemic Side-Channel Engine: profiles ESP entropy &amp; padding modulo to infer cipher &amp; mode</a:t>
            </a:r>
          </a:p>
          <a:p>
            <a:pPr>
              <a:defRPr sz="950"/>
            </a:pPr>
            <a:r>
              <a:t>• Output: signed Cryptographic Posture Certificate (CPC) with RFC / NIST clause citations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00000" y="292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90000" y="297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90000" y="324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50"/>
            </a:pPr>
            <a:r>
              <a:t>• Solves ESP blindness: infers Tunnel vs Transport &amp; cipher block size on raw Protocol 50 streams</a:t>
            </a:r>
          </a:p>
          <a:p>
            <a:pPr>
              <a:defRPr sz="950"/>
            </a:pPr>
            <a:r>
              <a:t>• Deterministic SMT logic flags weak DH 2/5, MD5/SHA-1, Sweet32 64-bit blocks &amp; Aggressive Mode</a:t>
            </a:r>
          </a:p>
          <a:p>
            <a:pPr>
              <a:defRPr sz="950"/>
            </a:pPr>
            <a:r>
              <a:t>• Detects downgrade: flags when chosen SA &lt; peer offer intersection (CNR regret metric)</a:t>
            </a:r>
          </a:p>
          <a:p>
            <a:pPr>
              <a:defRPr sz="950"/>
            </a:pPr>
            <a:r>
              <a:t>• Post-Quantum HNDL Engine: quantifies secrecy half-life against Shor's &amp; Grover's algorithms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00000" y="4300000"/>
            <a:ext cx="5750000" cy="13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290000" y="4350000"/>
            <a:ext cx="557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70C0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90000" y="4620000"/>
            <a:ext cx="557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50"/>
            </a:pPr>
            <a:r>
              <a:t>• Patent Wedge 1: Zero-Key ESP Epistemic Fingerprinting (entropy + padding residue = cipher/mode)</a:t>
            </a:r>
          </a:p>
          <a:p>
            <a:pPr>
              <a:defRPr sz="950"/>
            </a:pPr>
            <a:r>
              <a:t>• Patent Wedge 2: Offer-Lattice CNR + Neuro-Symbolic SMT verification (zero AI hallucination)</a:t>
            </a:r>
          </a:p>
          <a:p>
            <a:pPr>
              <a:defRPr sz="950"/>
            </a:pPr>
            <a:r>
              <a:t>• Quantum Secrecy Metric (QTEI): Shor/Grover vulnerability window for defense intelligence</a:t>
            </a:r>
          </a:p>
          <a:p>
            <a:pPr>
              <a:defRPr sz="950"/>
            </a:pPr>
            <a:r>
              <a:t>• Autonomous Multi-Vendor AST Compiler: outputs ready-to-deploy Cisco, Fortinet &amp; StrongSwan configs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080000" y="1540000"/>
            <a:ext cx="5900000" cy="408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200000" y="1580000"/>
            <a:ext cx="56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How TRINETRA thinks  (mind map)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8050000" y="3180000"/>
            <a:ext cx="1960000" cy="720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TRINETRA</a:t>
            </a:r>
          </a:p>
          <a:p>
            <a:r>
              <a:t>SENTINEL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250000" y="19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CONTROL
IKEv1/v2 lattice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850000" y="19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DATA</a:t>
            </a:r>
          </a:p>
          <a:p>
            <a:r>
              <a:t>ESP Side-Channel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050000" y="196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OUTPUT</a:t>
            </a:r>
          </a:p>
          <a:p>
            <a:r>
              <a:t>CPC + AST Patch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250000" y="45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POLICY</a:t>
            </a:r>
          </a:p>
          <a:p>
            <a:r>
              <a:t>NIST/BSI/CNSA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9850000" y="4580000"/>
            <a:ext cx="1760000" cy="62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4 METRICS</a:t>
            </a:r>
          </a:p>
          <a:p>
            <a:r>
              <a:t>CNR·PECF·SMT·QTEI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6280000" y="2680000"/>
            <a:ext cx="16000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00"/>
            </a:pPr>
            <a:r>
              <a:t>CNR  regret</a:t>
            </a:r>
            <a:br/>
            <a:r>
              <a:t>PECF  ESP cipher/mode</a:t>
            </a:r>
            <a:br/>
            <a:r>
              <a:t>SMT  zero-hallucination</a:t>
            </a:r>
            <a:br/>
            <a:r>
              <a:t>QTEI  quantum HNDL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Technologies to be used   •   Methodology and process for implementation (flow chart)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eBPF + Rust/Py</a:t>
            </a:r>
          </a:p>
          <a:p>
            <a:r>
              <a:t>Zero-copy IKE/ESP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17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Graph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17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Policy KG
Neo4j / JSON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4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4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Z3 SMT Solver</a:t>
            </a:r>
          </a:p>
          <a:p>
            <a:r>
              <a:t>Neuro-Symbolic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1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1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Air-gap AST</a:t>
            </a:r>
          </a:p>
          <a:p>
            <a:r>
              <a:t>Local generator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8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8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CPC PDF / JSON
STIX • SIEM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0050000" y="1280000"/>
            <a:ext cx="1860000" cy="24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050000" y="1520000"/>
            <a:ext cx="1860000" cy="5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PCAP / TAP
air-gapped box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00000" y="2100000"/>
            <a:ext cx="11700000" cy="2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Working process  —  4 stages (one glance)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20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 INGEST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0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SPAN / TAP / PCAP</a:t>
            </a:r>
          </a:p>
          <a:p>
            <a:r>
              <a:t>UDP 500 • 4500</a:t>
            </a:r>
          </a:p>
          <a:p>
            <a:r>
              <a:t>ESP Protocol 50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18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  LATTICE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18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Rebuild Offer Lattice</a:t>
            </a:r>
          </a:p>
          <a:p>
            <a:r>
              <a:t>ESP Entropy Profiling</a:t>
            </a:r>
          </a:p>
          <a:p>
            <a:r>
              <a:t>Tunnel/Transport Mode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6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 SCORE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Deterministic SMT Proofs</a:t>
            </a:r>
          </a:p>
          <a:p>
            <a:r>
              <a:t>Intersection vs Selected</a:t>
            </a:r>
          </a:p>
          <a:p>
            <a:r>
              <a:t>CNR • PECF • SMT • QTEI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140000" y="2360000"/>
            <a:ext cx="258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 ACT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140000" y="2700000"/>
            <a:ext cx="2580000" cy="1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Explainable Z3 Verdict</a:t>
            </a:r>
          </a:p>
          <a:p>
            <a:r>
              <a:t>Signed CPC Cert</a:t>
            </a:r>
          </a:p>
          <a:p>
            <a:r>
              <a:t>Cisco/Fortinet/Ansible AST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278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ight Arrow 17433"/>
          <p:cNvSpPr/>
          <p:nvPr/>
        </p:nvSpPr>
        <p:spPr>
          <a:xfrm>
            <a:off x="576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ight Arrow 17434"/>
          <p:cNvSpPr/>
          <p:nvPr/>
        </p:nvSpPr>
        <p:spPr>
          <a:xfrm>
            <a:off x="8740000" y="3000000"/>
            <a:ext cx="360000" cy="220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200000" y="396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Score logic (no payload crypto)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0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Selected &lt; offers’ intersection  →  HIGH CNR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18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ESP Modulo Residue + Min Len → Mode &amp; Cipher (PECF)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6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Child / rekey weaker than IKE SA  →  SSD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140000" y="418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Classical DH only, no ML-KEM → High QTEI (HNDL)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200000" y="4980000"/>
            <a:ext cx="11780000" cy="42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Demo path: Live PCAPs (Legacy 3DES/MD5, ESP Opaque Stream, PQC Hybrid) → SMT Engine → Signed CPC → Multi-Vendor Patches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of the feasibility of the idea   •   Potential challenges and risks   •   Strategies for overcoming these challenges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3720000" cy="400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280000"/>
            <a:ext cx="372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FEASIBILITY  —  why this ships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20000" y="1680000"/>
            <a:ext cx="3480000" cy="3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/>
            </a:pPr>
            <a:r>
              <a:t>• Working Prototype Complete: zero-copy parser, ESP analyzer, Z3 verifier &amp; CLI fully tested</a:t>
            </a:r>
          </a:p>
          <a:p>
            <a:pPr>
              <a:defRPr sz="900"/>
            </a:pPr>
            <a:r>
              <a:t>• Non-Invasive Passive Profiling: derives cipher &amp; Tunnel/Transport mode with zero keys needed</a:t>
            </a:r>
          </a:p>
          <a:p>
            <a:pPr>
              <a:defRPr sz="900"/>
            </a:pPr>
            <a:r>
              <a:t>• Standards Compliant: mathematically encodes NIST SP 800-77r1, BSI TR-02102-3 &amp; CNSA 2.0</a:t>
            </a:r>
          </a:p>
          <a:p>
            <a:pPr>
              <a:defRPr sz="900"/>
            </a:pPr>
            <a:r>
              <a:t>• 100% Air-Gapped Sovereign Ready: on-prem appliance, zero cloud exfiltration; fits NTRO directives</a:t>
            </a:r>
          </a:p>
          <a:p>
            <a:pPr>
              <a:defRPr sz="900"/>
            </a:pPr>
            <a:r>
              <a:t>• Line-Rate Scalability: eBPF/XDP zero-copy ring buffer handles 10Gbps+ without packet drops</a:t>
            </a:r>
          </a:p>
          <a:p>
            <a:pPr>
              <a:defRPr sz="900"/>
            </a:pPr>
            <a:r>
              <a:t>• We judge SELECTION &amp; WIRE BEHAVIOR, not secrets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40000" y="1280000"/>
            <a:ext cx="3900000" cy="40000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40000" y="1280000"/>
            <a:ext cx="3900000" cy="32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RISKS  —  mind map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5160000" y="2880000"/>
            <a:ext cx="1660000" cy="6600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60000" y="168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Encrypted later IKE
(after SA is up)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920000" y="168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Vendor / NAT-T
oddities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60000" y="432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False CNR /
black-box AI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20000" y="4320000"/>
            <a:ext cx="1780000" cy="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1B365D"/>
                </a:solidFill>
                <a:latin typeface="Calibri"/>
              </a:rPr>
              <a:t>Classified PCAPs
&amp; air-gap ops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60000" y="1280000"/>
            <a:ext cx="3920000" cy="4000000"/>
          </a:xfrm>
          <a:prstGeom prst="roundRect">
            <a:avLst>
              <a:gd name="adj" fmla="val 8000"/>
            </a:avLst>
          </a:prstGeom>
          <a:solidFill>
            <a:srgbClr val="EA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60000" y="1280000"/>
            <a:ext cx="3920000" cy="32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OVERCOME  —  if  →  then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200000" y="16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320000" y="17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Calibri"/>
              </a:rPr>
              <a:t>Later IKE opaque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320000" y="19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PECF analyzes ESP modulo padding &amp; entropy to infer cipher &amp; mode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200000" y="23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320000" y="24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Calibri"/>
              </a:rPr>
              <a:t>Vendor quirks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320000" y="26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Vendor-ID fingerprint → parser pack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200000" y="30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320000" y="31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Calibri"/>
              </a:rPr>
              <a:t>False CNR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320000" y="33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Deterministic Z3 SMT logic replaces fuzzy AI (zero false positives)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200000" y="37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20000" y="38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Calibri"/>
              </a:rPr>
              <a:t>Air-gap / no exfil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320000" y="40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On-prem appliance + USB policy updates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200000" y="4480000"/>
            <a:ext cx="3640000" cy="6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320000" y="4520000"/>
            <a:ext cx="34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48235"/>
                </a:solidFill>
                <a:latin typeface="Calibri"/>
              </a:rPr>
              <a:t>Speed / adoption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320000" y="4780000"/>
            <a:ext cx="34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eBPF/Rust kernel-bypass ingest; AST patch auto-deploys to routers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Potential impact on the target audience   •   Benefits of the solution (social, economic, environmental, etc.)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NTRO / SOC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Wire-truth of national IPsec — not CLI screenshots; passive zero-touch audit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18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CERT-In / Auditor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18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Signed CPC with exact RFC / NIST / CNSA clause violation IDs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6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Ministry / Bank / PSU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6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Mesh heat-map: detects silent first-match downgrade across thousands of WAN tunnels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140000" y="1280000"/>
            <a:ext cx="2580000" cy="28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OEM / Integrator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140000" y="1560000"/>
            <a:ext cx="2580000" cy="72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Co-sell posture &amp; migration SKU on existing Cisco, Fortinet &amp; AWS gateways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00000" y="234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Benefit flow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0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Weak SA
chosen on wire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18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TRINETRA
CPC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6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Social
Trusted gov links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4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Economic
Less breach + audit hrs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812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C5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r>
              <a:t>Strategic</a:t>
            </a:r>
          </a:p>
          <a:p>
            <a:r>
              <a:t>PQC runway (QTEI)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0100000" y="2560000"/>
            <a:ext cx="1840000" cy="700000"/>
          </a:xfrm>
          <a:prstGeom prst="roundRect">
            <a:avLst>
              <a:gd name="adj" fmla="val 8000"/>
            </a:avLst>
          </a:prstGeom>
          <a:solidFill>
            <a:srgbClr val="0D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Environment
Fix policy, keep boxes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204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ight Arrow 17427"/>
          <p:cNvSpPr/>
          <p:nvPr/>
        </p:nvSpPr>
        <p:spPr>
          <a:xfrm>
            <a:off x="402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ight Arrow 17428"/>
          <p:cNvSpPr/>
          <p:nvPr/>
        </p:nvSpPr>
        <p:spPr>
          <a:xfrm>
            <a:off x="600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ight Arrow 17429"/>
          <p:cNvSpPr/>
          <p:nvPr/>
        </p:nvSpPr>
        <p:spPr>
          <a:xfrm>
            <a:off x="798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ight Arrow 17430"/>
          <p:cNvSpPr/>
          <p:nvPr/>
        </p:nvSpPr>
        <p:spPr>
          <a:xfrm>
            <a:off x="9960000" y="2720000"/>
            <a:ext cx="140000" cy="180000"/>
          </a:xfrm>
          <a:prstGeom prst="rightArrow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200000" y="3340000"/>
            <a:ext cx="117000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Calibri"/>
              </a:rPr>
              <a:t>Before  vs  After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00000" y="3560000"/>
            <a:ext cx="5750000" cy="1820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200000" y="3560000"/>
            <a:ext cx="5750000" cy="300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40000" y="3960000"/>
            <a:ext cx="54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/>
            </a:pPr>
            <a:r>
              <a:t>• Decode packets, no automated posture score</a:t>
            </a:r>
          </a:p>
          <a:p>
            <a:pPr>
              <a:defRPr sz="900"/>
            </a:pPr>
            <a:r>
              <a:t>• Flag MD5 as simple lookup table; blind to ESP mode &amp; cipher</a:t>
            </a:r>
          </a:p>
          <a:p>
            <a:pPr>
              <a:defRPr sz="900"/>
            </a:pPr>
            <a:r>
              <a:t>• Config ≠ what the wire actually selected</a:t>
            </a:r>
          </a:p>
          <a:p>
            <a:pPr>
              <a:defRPr sz="900"/>
            </a:pPr>
            <a:r>
              <a:t>• Screenshot PDF for auditors; manual error-prone fixes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00000" y="3560000"/>
            <a:ext cx="5880000" cy="1820000"/>
          </a:xfrm>
          <a:prstGeom prst="roundRect">
            <a:avLst>
              <a:gd name="adj" fmla="val 8000"/>
            </a:avLst>
          </a:prstGeom>
          <a:solidFill>
            <a:srgbClr val="EA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00000" y="3560000"/>
            <a:ext cx="5880000" cy="30000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TRINETRA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260000" y="3960000"/>
            <a:ext cx="556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900"/>
            </a:pPr>
            <a:r>
              <a:t>• Score negotiation regret (CNR) &amp; infer ESP cipher/mode blindly</a:t>
            </a:r>
          </a:p>
          <a:p>
            <a:pPr>
              <a:defRPr sz="900"/>
            </a:pPr>
            <a:r>
              <a:t>• Deterministic SMT proofs of compliance (NIST / CNSA 2.0)</a:t>
            </a:r>
          </a:p>
          <a:p>
            <a:pPr>
              <a:defRPr sz="900"/>
            </a:pPr>
            <a:r>
              <a:t>• Harvest Now Decrypt Later (HNDL) quantum threat horizon</a:t>
            </a:r>
          </a:p>
          <a:p>
            <a:pPr>
              <a:defRPr sz="900"/>
            </a:pPr>
            <a:r>
              <a:t>• 1 handshake → 4 scores → 1 signed certificate → 1-click vendor fix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000" y="18288000"/>
            <a:ext cx="9144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lang="en-US" dirty="0" b="1" sz="1400">
                <a:solidFill>
                  <a:srgbClr val="1B365D"/>
                </a:solidFill>
                <a:latin typeface="Calibri"/>
              </a:rPr>
              <a:t>Praxis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00000" y="980000"/>
            <a:ext cx="11780000" cy="25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00000" y="1280000"/>
            <a:ext cx="5750000" cy="31800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0000" y="1280000"/>
            <a:ext cx="5750000" cy="3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STANDARDS  (policy graph)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40000" y="1660000"/>
            <a:ext cx="545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50"/>
            </a:pPr>
            <a:r>
              <a:t>• NIST SP 800-77 Rev.1 — IPsec VPN guide (deprecates 3DES/SHA-1)</a:t>
            </a:r>
          </a:p>
          <a:p>
            <a:pPr>
              <a:defRPr sz="850"/>
            </a:pPr>
            <a:r>
              <a:t>• BSI TR-02102-3 — IPsec crypto recommendations (prohibits non-EtM CBC)</a:t>
            </a:r>
          </a:p>
          <a:p>
            <a:pPr>
              <a:defRPr sz="850"/>
            </a:pPr>
            <a:r>
              <a:t>• NSA CNSA 2.0 — Post-Quantum KEM (ML-KEM / Kyber) mandates</a:t>
            </a:r>
          </a:p>
          <a:p>
            <a:pPr>
              <a:defRPr sz="850"/>
            </a:pPr>
            <a:r>
              <a:t>• RFC 7296 (IKEv2)    •    RFC 2409 (IKEv1)    •    RFC 4303 (ESP)</a:t>
            </a:r>
          </a:p>
          <a:p>
            <a:pPr>
              <a:defRPr sz="850"/>
            </a:pPr>
            <a:r>
              <a:t>• RFC 8247 / RFC 8221 — algorithm requirements</a:t>
            </a:r>
          </a:p>
          <a:p>
            <a:pPr>
              <a:defRPr sz="850"/>
            </a:pPr>
            <a:r>
              <a:t>• RFC 9370 &amp; RFC 9242 — PQC hybrid key exchanges → our QTEI score</a:t>
            </a:r>
          </a:p>
          <a:p>
            <a:pPr>
              <a:defRPr sz="850"/>
            </a:pPr>
            <a:r>
              <a:t>• CERT-In cryptographic &amp; sovereign VPN advisories</a:t>
            </a:r>
          </a:p>
          <a:p>
            <a:pPr>
              <a:defRPr sz="850"/>
            </a:pPr>
            <a:r>
              <a:t>csrc.nist.gov  •  datatracker.ietf.org  •  bsi.bund.de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00000" y="1280000"/>
            <a:ext cx="5880000" cy="318000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00000" y="1280000"/>
            <a:ext cx="5880000" cy="30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PRIOR ART WE GO BEYOND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60000" y="1660000"/>
            <a:ext cx="5560000" cy="2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850"/>
            </a:pPr>
            <a:r>
              <a:t>• Wireshark / Zeek IPsec — decode only; blind to ESP cipher/mode, no CNR</a:t>
            </a:r>
          </a:p>
          <a:p>
            <a:pPr>
              <a:defRPr sz="850"/>
            </a:pPr>
            <a:r>
              <a:t>• ike-scan — active probe; NTRO needs 100% PASSIVE inspection</a:t>
            </a:r>
          </a:p>
          <a:p>
            <a:pPr>
              <a:defRPr sz="850"/>
            </a:pPr>
            <a:r>
              <a:t>• VIAVI Avalanche — performance stress-test, not cryptographic posture</a:t>
            </a:r>
          </a:p>
          <a:p>
            <a:pPr>
              <a:defRPr sz="850"/>
            </a:pPr>
            <a:r>
              <a:t>• CIS / CLI auditors — inspect static configs, miss wire-level downgrade</a:t>
            </a:r>
          </a:p>
          <a:p>
            <a:pPr>
              <a:defRPr sz="850"/>
            </a:pPr>
            <a:r>
              <a:t>• Commercial DPI — requires private key escrow (violates Zero-Trust)</a:t>
            </a:r>
          </a:p>
          <a:p>
            <a:pPr>
              <a:defRPr sz="850"/>
            </a:pPr>
            <a:r>
              <a:t>zeek.org/2021/04/zeeks-ipsec-protocol-analyzer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00000" y="4560000"/>
            <a:ext cx="11780000" cy="840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>
              <a:defRPr sz="900"/>
            </a:pPr>
            <a:r>
              <a:t>NOVELTY CLAIM • Dual-Plane Offer Lattice + ESP Epistemic Fingerprinting (PECF) + Neuro-Symbolic SMT + Post-Quantum HNDL + Signed CPC Certificate</a:t>
            </a:r>
          </a:p>
          <a:p>
            <a:pPr>
              <a:defRPr sz="800"/>
            </a:pPr>
            <a:r>
              <a:t>We do not decrypt tunnels. We prove whether the nation selected the strongest SA it had, passively infer ESP mode/ciphers without keys, and automate multi-vendor remediation.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 S</cp:lastModifiedBy>
  <cp:revision>148</cp:revision>
  <dcterms:created xsi:type="dcterms:W3CDTF">2013-12-12T18:46:50Z</dcterms:created>
  <dcterms:modified xsi:type="dcterms:W3CDTF">2026-08-15T05:58:06Z</dcterms:modified>
  <cp:category/>
</cp:coreProperties>
</file>